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5C8E79-4737-8531-AB0A-1F567A37D9B6}" v="3" dt="2025-08-28T08:15:48.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6526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hyperlink" Target="https://www.ijirset.com/upload/2019/may/17_kavin%20JOURNAL_N.pdf" TargetMode="External"/><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837724" y="1325285"/>
            <a:ext cx="4606052" cy="3069908"/>
          </a:xfrm>
          <a:prstGeom prst="rect">
            <a:avLst/>
          </a:prstGeom>
        </p:spPr>
      </p:pic>
      <p:sp>
        <p:nvSpPr>
          <p:cNvPr id="4" name="Text 0"/>
          <p:cNvSpPr/>
          <p:nvPr/>
        </p:nvSpPr>
        <p:spPr>
          <a:xfrm>
            <a:off x="837724" y="4754166"/>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Textile Industry Safety Monitoring Project</a:t>
            </a:r>
            <a:endParaRPr lang="en-US" sz="4400" dirty="0"/>
          </a:p>
        </p:txBody>
      </p:sp>
      <p:sp>
        <p:nvSpPr>
          <p:cNvPr id="5" name="Text 1"/>
          <p:cNvSpPr/>
          <p:nvPr/>
        </p:nvSpPr>
        <p:spPr>
          <a:xfrm>
            <a:off x="837724" y="6521172"/>
            <a:ext cx="7468553" cy="383024"/>
          </a:xfrm>
          <a:prstGeom prst="rect">
            <a:avLst/>
          </a:prstGeom>
          <a:noFill/>
          <a:ln/>
        </p:spPr>
        <p:txBody>
          <a:bodyPr wrap="none" lIns="0" tIns="0" rIns="0" bIns="0" rtlCol="0" anchor="t"/>
          <a:lstStyle/>
          <a:p>
            <a:pPr marL="0" indent="0" algn="l">
              <a:lnSpc>
                <a:spcPts val="3000"/>
              </a:lnSpc>
              <a:buNone/>
            </a:pPr>
            <a:r>
              <a:rPr lang="en-US" sz="1850" b="1" dirty="0">
                <a:solidFill>
                  <a:srgbClr val="272525"/>
                </a:solidFill>
                <a:latin typeface="Source Sans Pro" pitchFamily="34" charset="0"/>
                <a:ea typeface="Source Sans Pro" pitchFamily="34" charset="-122"/>
                <a:cs typeface="Source Sans Pro" pitchFamily="34" charset="-120"/>
              </a:rPr>
              <a:t>SILICON SQUAD</a:t>
            </a:r>
            <a:r>
              <a:rPr lang="en-US" sz="1850" dirty="0">
                <a:solidFill>
                  <a:srgbClr val="272525"/>
                </a:solidFill>
                <a:latin typeface="Source Sans Pro" pitchFamily="34" charset="0"/>
                <a:ea typeface="Source Sans Pro" pitchFamily="34" charset="-122"/>
                <a:cs typeface="Source Sans Pro" pitchFamily="34" charset="-120"/>
              </a:rPr>
              <a:t> | Final Review Presentation | 15th July 2025</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10552" y="480655"/>
            <a:ext cx="4926211" cy="512921"/>
          </a:xfrm>
          <a:prstGeom prst="rect">
            <a:avLst/>
          </a:prstGeom>
          <a:noFill/>
          <a:ln/>
        </p:spPr>
        <p:txBody>
          <a:bodyPr wrap="none" lIns="0" tIns="0" rIns="0" bIns="0" rtlCol="0" anchor="t"/>
          <a:lstStyle/>
          <a:p>
            <a:pPr marL="0" indent="0" algn="l">
              <a:lnSpc>
                <a:spcPts val="4000"/>
              </a:lnSpc>
              <a:buNone/>
            </a:pPr>
            <a:r>
              <a:rPr lang="en-US" sz="3200" dirty="0">
                <a:solidFill>
                  <a:srgbClr val="000000"/>
                </a:solidFill>
                <a:latin typeface="Source Serif Pro Semi Bold" pitchFamily="34" charset="0"/>
                <a:ea typeface="Source Serif Pro Semi Bold" pitchFamily="34" charset="-122"/>
                <a:cs typeface="Source Serif Pro Semi Bold" pitchFamily="34" charset="-120"/>
              </a:rPr>
              <a:t>Team &amp; Acknowledgments</a:t>
            </a:r>
            <a:endParaRPr lang="en-US" sz="3200" dirty="0"/>
          </a:p>
        </p:txBody>
      </p:sp>
      <p:sp>
        <p:nvSpPr>
          <p:cNvPr id="3" name="Text 1"/>
          <p:cNvSpPr/>
          <p:nvPr/>
        </p:nvSpPr>
        <p:spPr>
          <a:xfrm>
            <a:off x="610552" y="1342430"/>
            <a:ext cx="13409295" cy="279083"/>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Source Sans Pro" pitchFamily="34" charset="0"/>
                <a:ea typeface="Source Sans Pro" pitchFamily="34" charset="-122"/>
                <a:cs typeface="Source Sans Pro" pitchFamily="34" charset="-120"/>
              </a:rPr>
              <a:t>The success of this project is a testament to the dedication and collaboration of the SILICON SQUAD.</a:t>
            </a:r>
            <a:endParaRPr lang="en-US" sz="1350" dirty="0"/>
          </a:p>
        </p:txBody>
      </p:sp>
      <p:sp>
        <p:nvSpPr>
          <p:cNvPr id="4" name="Shape 2"/>
          <p:cNvSpPr/>
          <p:nvPr/>
        </p:nvSpPr>
        <p:spPr>
          <a:xfrm>
            <a:off x="610552" y="1817727"/>
            <a:ext cx="13409295" cy="1046678"/>
          </a:xfrm>
          <a:prstGeom prst="roundRect">
            <a:avLst>
              <a:gd name="adj" fmla="val 7000"/>
            </a:avLst>
          </a:prstGeom>
          <a:noFill/>
          <a:ln w="22860">
            <a:solidFill>
              <a:srgbClr val="D6BADD"/>
            </a:solidFill>
            <a:prstDash val="solid"/>
          </a:ln>
        </p:spPr>
        <p:txBody>
          <a:bodyPr/>
          <a:lstStyle/>
          <a:p>
            <a:endParaRPr lang="en-US"/>
          </a:p>
        </p:txBody>
      </p:sp>
      <p:sp>
        <p:nvSpPr>
          <p:cNvPr id="5" name="Shape 3"/>
          <p:cNvSpPr/>
          <p:nvPr/>
        </p:nvSpPr>
        <p:spPr>
          <a:xfrm>
            <a:off x="633412" y="1840587"/>
            <a:ext cx="697706" cy="1000958"/>
          </a:xfrm>
          <a:prstGeom prst="roundRect">
            <a:avLst>
              <a:gd name="adj" fmla="val 6570"/>
            </a:avLst>
          </a:prstGeom>
          <a:solidFill>
            <a:srgbClr val="F0D4F7"/>
          </a:solidFill>
          <a:ln/>
        </p:spPr>
        <p:txBody>
          <a:bodyPr/>
          <a:lstStyle/>
          <a:p>
            <a:endParaRPr lang="en-US"/>
          </a:p>
        </p:txBody>
      </p:sp>
      <p:sp>
        <p:nvSpPr>
          <p:cNvPr id="6" name="Text 4"/>
          <p:cNvSpPr/>
          <p:nvPr/>
        </p:nvSpPr>
        <p:spPr>
          <a:xfrm>
            <a:off x="1505545" y="2015014"/>
            <a:ext cx="2052280" cy="256580"/>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Source Serif Pro Semi Bold" pitchFamily="34" charset="0"/>
                <a:ea typeface="Source Serif Pro Semi Bold" pitchFamily="34" charset="-122"/>
                <a:cs typeface="Source Serif Pro Semi Bold" pitchFamily="34" charset="-120"/>
              </a:rPr>
              <a:t>Aiswarya P</a:t>
            </a:r>
            <a:endParaRPr lang="en-US" sz="1600" dirty="0"/>
          </a:p>
        </p:txBody>
      </p:sp>
      <p:sp>
        <p:nvSpPr>
          <p:cNvPr id="7" name="Text 5"/>
          <p:cNvSpPr/>
          <p:nvPr/>
        </p:nvSpPr>
        <p:spPr>
          <a:xfrm>
            <a:off x="1505545" y="2376249"/>
            <a:ext cx="12491442" cy="279083"/>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Source Sans Pro" pitchFamily="34" charset="0"/>
                <a:ea typeface="Source Sans Pro" pitchFamily="34" charset="-122"/>
                <a:cs typeface="Source Sans Pro" pitchFamily="34" charset="-120"/>
              </a:rPr>
              <a:t>Team Member</a:t>
            </a:r>
            <a:endParaRPr lang="en-US" sz="1350" dirty="0"/>
          </a:p>
        </p:txBody>
      </p:sp>
      <p:sp>
        <p:nvSpPr>
          <p:cNvPr id="8" name="Shape 6"/>
          <p:cNvSpPr/>
          <p:nvPr/>
        </p:nvSpPr>
        <p:spPr>
          <a:xfrm>
            <a:off x="610552" y="3038832"/>
            <a:ext cx="13409295" cy="1046678"/>
          </a:xfrm>
          <a:prstGeom prst="roundRect">
            <a:avLst>
              <a:gd name="adj" fmla="val 7000"/>
            </a:avLst>
          </a:prstGeom>
          <a:noFill/>
          <a:ln w="22860">
            <a:solidFill>
              <a:srgbClr val="D6BADD"/>
            </a:solidFill>
            <a:prstDash val="solid"/>
          </a:ln>
        </p:spPr>
        <p:txBody>
          <a:bodyPr/>
          <a:lstStyle/>
          <a:p>
            <a:endParaRPr lang="en-US"/>
          </a:p>
        </p:txBody>
      </p:sp>
      <p:sp>
        <p:nvSpPr>
          <p:cNvPr id="9" name="Shape 7"/>
          <p:cNvSpPr/>
          <p:nvPr/>
        </p:nvSpPr>
        <p:spPr>
          <a:xfrm>
            <a:off x="633412" y="3061692"/>
            <a:ext cx="697706" cy="1000958"/>
          </a:xfrm>
          <a:prstGeom prst="roundRect">
            <a:avLst>
              <a:gd name="adj" fmla="val 6570"/>
            </a:avLst>
          </a:prstGeom>
          <a:solidFill>
            <a:srgbClr val="F0D4F7"/>
          </a:solidFill>
          <a:ln/>
        </p:spPr>
        <p:txBody>
          <a:bodyPr/>
          <a:lstStyle/>
          <a:p>
            <a:endParaRPr lang="en-US"/>
          </a:p>
        </p:txBody>
      </p:sp>
      <p:sp>
        <p:nvSpPr>
          <p:cNvPr id="10" name="Text 8"/>
          <p:cNvSpPr/>
          <p:nvPr/>
        </p:nvSpPr>
        <p:spPr>
          <a:xfrm>
            <a:off x="1505545" y="3236119"/>
            <a:ext cx="2052280" cy="256580"/>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Source Serif Pro Semi Bold" pitchFamily="34" charset="0"/>
                <a:ea typeface="Source Serif Pro Semi Bold" pitchFamily="34" charset="-122"/>
                <a:cs typeface="Source Serif Pro Semi Bold" pitchFamily="34" charset="-120"/>
              </a:rPr>
              <a:t>Jayanth Kolisetty</a:t>
            </a:r>
            <a:endParaRPr lang="en-US" sz="1600" dirty="0"/>
          </a:p>
        </p:txBody>
      </p:sp>
      <p:sp>
        <p:nvSpPr>
          <p:cNvPr id="11" name="Text 9"/>
          <p:cNvSpPr/>
          <p:nvPr/>
        </p:nvSpPr>
        <p:spPr>
          <a:xfrm>
            <a:off x="1505545" y="3597354"/>
            <a:ext cx="12491442" cy="279083"/>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Source Sans Pro" pitchFamily="34" charset="0"/>
                <a:ea typeface="Source Sans Pro" pitchFamily="34" charset="-122"/>
                <a:cs typeface="Source Sans Pro" pitchFamily="34" charset="-120"/>
              </a:rPr>
              <a:t>Team Member</a:t>
            </a:r>
            <a:endParaRPr lang="en-US" sz="1350" dirty="0"/>
          </a:p>
        </p:txBody>
      </p:sp>
      <p:sp>
        <p:nvSpPr>
          <p:cNvPr id="12" name="Shape 10"/>
          <p:cNvSpPr/>
          <p:nvPr/>
        </p:nvSpPr>
        <p:spPr>
          <a:xfrm>
            <a:off x="610552" y="4259937"/>
            <a:ext cx="13409295" cy="1046678"/>
          </a:xfrm>
          <a:prstGeom prst="roundRect">
            <a:avLst>
              <a:gd name="adj" fmla="val 7000"/>
            </a:avLst>
          </a:prstGeom>
          <a:noFill/>
          <a:ln w="22860">
            <a:solidFill>
              <a:srgbClr val="D6BADD"/>
            </a:solidFill>
            <a:prstDash val="solid"/>
          </a:ln>
        </p:spPr>
        <p:txBody>
          <a:bodyPr/>
          <a:lstStyle/>
          <a:p>
            <a:endParaRPr lang="en-US"/>
          </a:p>
        </p:txBody>
      </p:sp>
      <p:sp>
        <p:nvSpPr>
          <p:cNvPr id="13" name="Shape 11"/>
          <p:cNvSpPr/>
          <p:nvPr/>
        </p:nvSpPr>
        <p:spPr>
          <a:xfrm>
            <a:off x="633412" y="4282797"/>
            <a:ext cx="697706" cy="1000958"/>
          </a:xfrm>
          <a:prstGeom prst="roundRect">
            <a:avLst>
              <a:gd name="adj" fmla="val 6570"/>
            </a:avLst>
          </a:prstGeom>
          <a:solidFill>
            <a:srgbClr val="F0D4F7"/>
          </a:solidFill>
          <a:ln/>
        </p:spPr>
        <p:txBody>
          <a:bodyPr/>
          <a:lstStyle/>
          <a:p>
            <a:endParaRPr lang="en-US"/>
          </a:p>
        </p:txBody>
      </p:sp>
      <p:sp>
        <p:nvSpPr>
          <p:cNvPr id="14" name="Text 12"/>
          <p:cNvSpPr/>
          <p:nvPr/>
        </p:nvSpPr>
        <p:spPr>
          <a:xfrm>
            <a:off x="1505545" y="4457224"/>
            <a:ext cx="2052280" cy="256580"/>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Source Serif Pro Semi Bold" pitchFamily="34" charset="0"/>
                <a:ea typeface="Source Serif Pro Semi Bold" pitchFamily="34" charset="-122"/>
                <a:cs typeface="Source Serif Pro Semi Bold" pitchFamily="34" charset="-120"/>
              </a:rPr>
              <a:t>Karishma</a:t>
            </a:r>
            <a:endParaRPr lang="en-US" sz="1600" dirty="0"/>
          </a:p>
        </p:txBody>
      </p:sp>
      <p:sp>
        <p:nvSpPr>
          <p:cNvPr id="15" name="Text 13"/>
          <p:cNvSpPr/>
          <p:nvPr/>
        </p:nvSpPr>
        <p:spPr>
          <a:xfrm>
            <a:off x="1505545" y="4818459"/>
            <a:ext cx="12491442" cy="279083"/>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Source Sans Pro" pitchFamily="34" charset="0"/>
                <a:ea typeface="Source Sans Pro" pitchFamily="34" charset="-122"/>
                <a:cs typeface="Source Sans Pro" pitchFamily="34" charset="-120"/>
              </a:rPr>
              <a:t>Team Member</a:t>
            </a:r>
            <a:endParaRPr lang="en-US" sz="1350" dirty="0"/>
          </a:p>
        </p:txBody>
      </p:sp>
      <p:sp>
        <p:nvSpPr>
          <p:cNvPr id="16" name="Shape 14"/>
          <p:cNvSpPr/>
          <p:nvPr/>
        </p:nvSpPr>
        <p:spPr>
          <a:xfrm>
            <a:off x="610552" y="5481042"/>
            <a:ext cx="13409295" cy="1046678"/>
          </a:xfrm>
          <a:prstGeom prst="roundRect">
            <a:avLst>
              <a:gd name="adj" fmla="val 7000"/>
            </a:avLst>
          </a:prstGeom>
          <a:noFill/>
          <a:ln w="22860">
            <a:solidFill>
              <a:srgbClr val="D6BADD"/>
            </a:solidFill>
            <a:prstDash val="solid"/>
          </a:ln>
        </p:spPr>
        <p:txBody>
          <a:bodyPr/>
          <a:lstStyle/>
          <a:p>
            <a:endParaRPr lang="en-US"/>
          </a:p>
        </p:txBody>
      </p:sp>
      <p:sp>
        <p:nvSpPr>
          <p:cNvPr id="17" name="Shape 15"/>
          <p:cNvSpPr/>
          <p:nvPr/>
        </p:nvSpPr>
        <p:spPr>
          <a:xfrm>
            <a:off x="633412" y="5503902"/>
            <a:ext cx="697706" cy="1000958"/>
          </a:xfrm>
          <a:prstGeom prst="roundRect">
            <a:avLst>
              <a:gd name="adj" fmla="val 6570"/>
            </a:avLst>
          </a:prstGeom>
          <a:solidFill>
            <a:srgbClr val="F0D4F7"/>
          </a:solidFill>
          <a:ln/>
        </p:spPr>
        <p:txBody>
          <a:bodyPr/>
          <a:lstStyle/>
          <a:p>
            <a:endParaRPr lang="en-US"/>
          </a:p>
        </p:txBody>
      </p:sp>
      <p:sp>
        <p:nvSpPr>
          <p:cNvPr id="18" name="Text 16"/>
          <p:cNvSpPr/>
          <p:nvPr/>
        </p:nvSpPr>
        <p:spPr>
          <a:xfrm>
            <a:off x="1505545" y="5678329"/>
            <a:ext cx="2052280" cy="256580"/>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Source Serif Pro Semi Bold" pitchFamily="34" charset="0"/>
                <a:ea typeface="Source Serif Pro Semi Bold" pitchFamily="34" charset="-122"/>
                <a:cs typeface="Source Serif Pro Semi Bold" pitchFamily="34" charset="-120"/>
              </a:rPr>
              <a:t>Sri Kamesh Guru</a:t>
            </a:r>
            <a:endParaRPr lang="en-US" sz="1600" dirty="0"/>
          </a:p>
        </p:txBody>
      </p:sp>
      <p:sp>
        <p:nvSpPr>
          <p:cNvPr id="19" name="Text 17"/>
          <p:cNvSpPr/>
          <p:nvPr/>
        </p:nvSpPr>
        <p:spPr>
          <a:xfrm>
            <a:off x="1505545" y="6039564"/>
            <a:ext cx="12491442" cy="279083"/>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Source Sans Pro" pitchFamily="34" charset="0"/>
                <a:ea typeface="Source Sans Pro" pitchFamily="34" charset="-122"/>
                <a:cs typeface="Source Sans Pro" pitchFamily="34" charset="-120"/>
              </a:rPr>
              <a:t>Team Manager</a:t>
            </a:r>
            <a:endParaRPr lang="en-US" sz="1350" dirty="0"/>
          </a:p>
        </p:txBody>
      </p:sp>
      <p:sp>
        <p:nvSpPr>
          <p:cNvPr id="20" name="Shape 18"/>
          <p:cNvSpPr/>
          <p:nvPr/>
        </p:nvSpPr>
        <p:spPr>
          <a:xfrm>
            <a:off x="610552" y="6702147"/>
            <a:ext cx="13409295" cy="1046678"/>
          </a:xfrm>
          <a:prstGeom prst="roundRect">
            <a:avLst>
              <a:gd name="adj" fmla="val 7000"/>
            </a:avLst>
          </a:prstGeom>
          <a:noFill/>
          <a:ln w="22860">
            <a:solidFill>
              <a:srgbClr val="D6BADD"/>
            </a:solidFill>
            <a:prstDash val="solid"/>
          </a:ln>
        </p:spPr>
        <p:txBody>
          <a:bodyPr/>
          <a:lstStyle/>
          <a:p>
            <a:endParaRPr lang="en-US"/>
          </a:p>
        </p:txBody>
      </p:sp>
      <p:sp>
        <p:nvSpPr>
          <p:cNvPr id="21" name="Shape 19"/>
          <p:cNvSpPr/>
          <p:nvPr/>
        </p:nvSpPr>
        <p:spPr>
          <a:xfrm>
            <a:off x="633412" y="6725007"/>
            <a:ext cx="697706" cy="1000958"/>
          </a:xfrm>
          <a:prstGeom prst="roundRect">
            <a:avLst>
              <a:gd name="adj" fmla="val 6570"/>
            </a:avLst>
          </a:prstGeom>
          <a:solidFill>
            <a:srgbClr val="F0D4F7"/>
          </a:solidFill>
          <a:ln/>
        </p:spPr>
        <p:txBody>
          <a:bodyPr/>
          <a:lstStyle/>
          <a:p>
            <a:endParaRPr lang="en-US"/>
          </a:p>
        </p:txBody>
      </p:sp>
      <p:sp>
        <p:nvSpPr>
          <p:cNvPr id="22" name="Text 20"/>
          <p:cNvSpPr/>
          <p:nvPr/>
        </p:nvSpPr>
        <p:spPr>
          <a:xfrm>
            <a:off x="1505545" y="6899434"/>
            <a:ext cx="2052280" cy="256580"/>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Source Serif Pro Semi Bold" pitchFamily="34" charset="0"/>
                <a:ea typeface="Source Serif Pro Semi Bold" pitchFamily="34" charset="-122"/>
                <a:cs typeface="Source Serif Pro Semi Bold" pitchFamily="34" charset="-120"/>
              </a:rPr>
              <a:t>Rahul Sharma</a:t>
            </a:r>
            <a:endParaRPr lang="en-US" sz="1600" dirty="0"/>
          </a:p>
        </p:txBody>
      </p:sp>
      <p:sp>
        <p:nvSpPr>
          <p:cNvPr id="23" name="Text 21"/>
          <p:cNvSpPr/>
          <p:nvPr/>
        </p:nvSpPr>
        <p:spPr>
          <a:xfrm>
            <a:off x="1505545" y="7260669"/>
            <a:ext cx="12491442" cy="279083"/>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Source Sans Pro" pitchFamily="34" charset="0"/>
                <a:ea typeface="Source Sans Pro" pitchFamily="34" charset="-122"/>
                <a:cs typeface="Source Sans Pro" pitchFamily="34" charset="-120"/>
              </a:rPr>
              <a:t>Team Lead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2821" y="521970"/>
            <a:ext cx="4456390" cy="556974"/>
          </a:xfrm>
          <a:prstGeom prst="rect">
            <a:avLst/>
          </a:prstGeom>
          <a:noFill/>
          <a:ln/>
        </p:spPr>
        <p:txBody>
          <a:bodyPr wrap="none" lIns="0" tIns="0" rIns="0" bIns="0" rtlCol="0" anchor="t"/>
          <a:lstStyle/>
          <a:p>
            <a:pPr marL="0" indent="0" algn="l">
              <a:lnSpc>
                <a:spcPts val="4350"/>
              </a:lnSpc>
              <a:buNone/>
            </a:pPr>
            <a:r>
              <a:rPr lang="en-US" sz="3500" dirty="0">
                <a:solidFill>
                  <a:srgbClr val="000000"/>
                </a:solidFill>
                <a:latin typeface="Source Serif Pro Semi Bold" pitchFamily="34" charset="0"/>
                <a:ea typeface="Source Serif Pro Semi Bold" pitchFamily="34" charset="-122"/>
                <a:cs typeface="Source Serif Pro Semi Bold" pitchFamily="34" charset="-120"/>
              </a:rPr>
              <a:t>Presentation Agenda</a:t>
            </a:r>
            <a:endParaRPr lang="en-US" sz="3500" dirty="0"/>
          </a:p>
        </p:txBody>
      </p:sp>
      <p:sp>
        <p:nvSpPr>
          <p:cNvPr id="3" name="Shape 1"/>
          <p:cNvSpPr/>
          <p:nvPr/>
        </p:nvSpPr>
        <p:spPr>
          <a:xfrm>
            <a:off x="662821" y="1457682"/>
            <a:ext cx="757595" cy="1136333"/>
          </a:xfrm>
          <a:prstGeom prst="roundRect">
            <a:avLst>
              <a:gd name="adj" fmla="val 360003"/>
            </a:avLst>
          </a:prstGeom>
          <a:solidFill>
            <a:srgbClr val="F0D4F7"/>
          </a:solidFill>
          <a:ln w="7620">
            <a:solidFill>
              <a:srgbClr val="D6BADD"/>
            </a:solidFill>
            <a:prstDash val="solid"/>
          </a:ln>
        </p:spPr>
        <p:txBody>
          <a:bodyPr/>
          <a:lstStyle/>
          <a:p>
            <a:endParaRPr lang="en-US"/>
          </a:p>
        </p:txBody>
      </p:sp>
      <p:sp>
        <p:nvSpPr>
          <p:cNvPr id="4" name="Text 2"/>
          <p:cNvSpPr/>
          <p:nvPr/>
        </p:nvSpPr>
        <p:spPr>
          <a:xfrm>
            <a:off x="899517" y="1848326"/>
            <a:ext cx="284083" cy="355044"/>
          </a:xfrm>
          <a:prstGeom prst="rect">
            <a:avLst/>
          </a:prstGeom>
          <a:noFill/>
          <a:ln/>
        </p:spPr>
        <p:txBody>
          <a:bodyPr wrap="none" lIns="0" tIns="0" rIns="0" bIns="0" rtlCol="0" anchor="t"/>
          <a:lstStyle/>
          <a:p>
            <a:pPr marL="0" indent="0" algn="l">
              <a:lnSpc>
                <a:spcPts val="220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1</a:t>
            </a:r>
            <a:endParaRPr lang="en-US" sz="2200" dirty="0"/>
          </a:p>
        </p:txBody>
      </p:sp>
      <p:sp>
        <p:nvSpPr>
          <p:cNvPr id="5" name="Text 3"/>
          <p:cNvSpPr/>
          <p:nvPr/>
        </p:nvSpPr>
        <p:spPr>
          <a:xfrm>
            <a:off x="1609725" y="1646992"/>
            <a:ext cx="4278749" cy="278368"/>
          </a:xfrm>
          <a:prstGeom prst="rect">
            <a:avLst/>
          </a:prstGeom>
          <a:noFill/>
          <a:ln/>
        </p:spPr>
        <p:txBody>
          <a:bodyPr wrap="none" lIns="0" tIns="0" rIns="0" bIns="0" rtlCol="0" anchor="t"/>
          <a:lstStyle/>
          <a:p>
            <a:pPr marL="0" indent="0" algn="l">
              <a:lnSpc>
                <a:spcPts val="2150"/>
              </a:lnSpc>
              <a:buNone/>
            </a:pPr>
            <a:r>
              <a:rPr lang="en-US" sz="1750" dirty="0">
                <a:solidFill>
                  <a:srgbClr val="272525"/>
                </a:solidFill>
                <a:latin typeface="Source Serif Pro Semi Bold" pitchFamily="34" charset="0"/>
                <a:ea typeface="Source Serif Pro Semi Bold" pitchFamily="34" charset="-122"/>
                <a:cs typeface="Source Serif Pro Semi Bold" pitchFamily="34" charset="-120"/>
              </a:rPr>
              <a:t>Requirement Analysis &amp; Literature Review</a:t>
            </a:r>
            <a:endParaRPr lang="en-US" sz="1750" dirty="0"/>
          </a:p>
        </p:txBody>
      </p:sp>
      <p:sp>
        <p:nvSpPr>
          <p:cNvPr id="6" name="Shape 4"/>
          <p:cNvSpPr/>
          <p:nvPr/>
        </p:nvSpPr>
        <p:spPr>
          <a:xfrm>
            <a:off x="662821" y="2736056"/>
            <a:ext cx="757595" cy="1136333"/>
          </a:xfrm>
          <a:prstGeom prst="roundRect">
            <a:avLst>
              <a:gd name="adj" fmla="val 360003"/>
            </a:avLst>
          </a:prstGeom>
          <a:solidFill>
            <a:srgbClr val="F0D4F7"/>
          </a:solidFill>
          <a:ln w="7620">
            <a:solidFill>
              <a:srgbClr val="D6BADD"/>
            </a:solidFill>
            <a:prstDash val="solid"/>
          </a:ln>
        </p:spPr>
        <p:txBody>
          <a:bodyPr/>
          <a:lstStyle/>
          <a:p>
            <a:endParaRPr lang="en-US"/>
          </a:p>
        </p:txBody>
      </p:sp>
      <p:sp>
        <p:nvSpPr>
          <p:cNvPr id="7" name="Text 5"/>
          <p:cNvSpPr/>
          <p:nvPr/>
        </p:nvSpPr>
        <p:spPr>
          <a:xfrm>
            <a:off x="899517" y="3126700"/>
            <a:ext cx="284083" cy="355044"/>
          </a:xfrm>
          <a:prstGeom prst="rect">
            <a:avLst/>
          </a:prstGeom>
          <a:noFill/>
          <a:ln/>
        </p:spPr>
        <p:txBody>
          <a:bodyPr wrap="none" lIns="0" tIns="0" rIns="0" bIns="0" rtlCol="0" anchor="t"/>
          <a:lstStyle/>
          <a:p>
            <a:pPr marL="0" indent="0" algn="l">
              <a:lnSpc>
                <a:spcPts val="220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2</a:t>
            </a:r>
            <a:endParaRPr lang="en-US" sz="2200" dirty="0"/>
          </a:p>
        </p:txBody>
      </p:sp>
      <p:sp>
        <p:nvSpPr>
          <p:cNvPr id="8" name="Text 6"/>
          <p:cNvSpPr/>
          <p:nvPr/>
        </p:nvSpPr>
        <p:spPr>
          <a:xfrm>
            <a:off x="1609725" y="2925366"/>
            <a:ext cx="2228136" cy="278368"/>
          </a:xfrm>
          <a:prstGeom prst="rect">
            <a:avLst/>
          </a:prstGeom>
          <a:noFill/>
          <a:ln/>
        </p:spPr>
        <p:txBody>
          <a:bodyPr wrap="none" lIns="0" tIns="0" rIns="0" bIns="0" rtlCol="0" anchor="t"/>
          <a:lstStyle/>
          <a:p>
            <a:pPr marL="0" indent="0" algn="l">
              <a:lnSpc>
                <a:spcPts val="2150"/>
              </a:lnSpc>
              <a:buNone/>
            </a:pPr>
            <a:r>
              <a:rPr lang="en-US" sz="1750" dirty="0">
                <a:solidFill>
                  <a:srgbClr val="272525"/>
                </a:solidFill>
                <a:latin typeface="Source Serif Pro Semi Bold" pitchFamily="34" charset="0"/>
                <a:ea typeface="Source Serif Pro Semi Bold" pitchFamily="34" charset="-122"/>
                <a:cs typeface="Source Serif Pro Semi Bold" pitchFamily="34" charset="-120"/>
              </a:rPr>
              <a:t>System Design</a:t>
            </a:r>
            <a:endParaRPr lang="en-US" sz="1750" dirty="0"/>
          </a:p>
        </p:txBody>
      </p:sp>
      <p:sp>
        <p:nvSpPr>
          <p:cNvPr id="9" name="Shape 7"/>
          <p:cNvSpPr/>
          <p:nvPr/>
        </p:nvSpPr>
        <p:spPr>
          <a:xfrm>
            <a:off x="662821" y="4014430"/>
            <a:ext cx="757595" cy="1136333"/>
          </a:xfrm>
          <a:prstGeom prst="roundRect">
            <a:avLst>
              <a:gd name="adj" fmla="val 360003"/>
            </a:avLst>
          </a:prstGeom>
          <a:solidFill>
            <a:srgbClr val="F0D4F7"/>
          </a:solidFill>
          <a:ln w="7620">
            <a:solidFill>
              <a:srgbClr val="D6BADD"/>
            </a:solidFill>
            <a:prstDash val="solid"/>
          </a:ln>
        </p:spPr>
        <p:txBody>
          <a:bodyPr/>
          <a:lstStyle/>
          <a:p>
            <a:endParaRPr lang="en-US"/>
          </a:p>
        </p:txBody>
      </p:sp>
      <p:sp>
        <p:nvSpPr>
          <p:cNvPr id="10" name="Text 8"/>
          <p:cNvSpPr/>
          <p:nvPr/>
        </p:nvSpPr>
        <p:spPr>
          <a:xfrm>
            <a:off x="899517" y="4405074"/>
            <a:ext cx="284083" cy="355044"/>
          </a:xfrm>
          <a:prstGeom prst="rect">
            <a:avLst/>
          </a:prstGeom>
          <a:noFill/>
          <a:ln/>
        </p:spPr>
        <p:txBody>
          <a:bodyPr wrap="none" lIns="0" tIns="0" rIns="0" bIns="0" rtlCol="0" anchor="t"/>
          <a:lstStyle/>
          <a:p>
            <a:pPr marL="0" indent="0" algn="l">
              <a:lnSpc>
                <a:spcPts val="220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3</a:t>
            </a:r>
            <a:endParaRPr lang="en-US" sz="2200" dirty="0"/>
          </a:p>
        </p:txBody>
      </p:sp>
      <p:sp>
        <p:nvSpPr>
          <p:cNvPr id="11" name="Text 9"/>
          <p:cNvSpPr/>
          <p:nvPr/>
        </p:nvSpPr>
        <p:spPr>
          <a:xfrm>
            <a:off x="1609725" y="4203740"/>
            <a:ext cx="2228136" cy="278368"/>
          </a:xfrm>
          <a:prstGeom prst="rect">
            <a:avLst/>
          </a:prstGeom>
          <a:noFill/>
          <a:ln/>
        </p:spPr>
        <p:txBody>
          <a:bodyPr wrap="none" lIns="0" tIns="0" rIns="0" bIns="0" rtlCol="0" anchor="t"/>
          <a:lstStyle/>
          <a:p>
            <a:pPr marL="0" indent="0" algn="l">
              <a:lnSpc>
                <a:spcPts val="2150"/>
              </a:lnSpc>
              <a:buNone/>
            </a:pPr>
            <a:r>
              <a:rPr lang="en-US" sz="1750" dirty="0">
                <a:solidFill>
                  <a:srgbClr val="272525"/>
                </a:solidFill>
                <a:latin typeface="Source Serif Pro Semi Bold" pitchFamily="34" charset="0"/>
                <a:ea typeface="Source Serif Pro Semi Bold" pitchFamily="34" charset="-122"/>
                <a:cs typeface="Source Serif Pro Semi Bold" pitchFamily="34" charset="-120"/>
              </a:rPr>
              <a:t>Implementation</a:t>
            </a:r>
            <a:endParaRPr lang="en-US" sz="1750" dirty="0"/>
          </a:p>
        </p:txBody>
      </p:sp>
      <p:sp>
        <p:nvSpPr>
          <p:cNvPr id="12" name="Shape 10"/>
          <p:cNvSpPr/>
          <p:nvPr/>
        </p:nvSpPr>
        <p:spPr>
          <a:xfrm>
            <a:off x="662821" y="5292804"/>
            <a:ext cx="757595" cy="1136333"/>
          </a:xfrm>
          <a:prstGeom prst="roundRect">
            <a:avLst>
              <a:gd name="adj" fmla="val 360003"/>
            </a:avLst>
          </a:prstGeom>
          <a:solidFill>
            <a:srgbClr val="F0D4F7"/>
          </a:solidFill>
          <a:ln w="7620">
            <a:solidFill>
              <a:srgbClr val="D6BADD"/>
            </a:solidFill>
            <a:prstDash val="solid"/>
          </a:ln>
        </p:spPr>
        <p:txBody>
          <a:bodyPr/>
          <a:lstStyle/>
          <a:p>
            <a:endParaRPr lang="en-US"/>
          </a:p>
        </p:txBody>
      </p:sp>
      <p:sp>
        <p:nvSpPr>
          <p:cNvPr id="13" name="Text 11"/>
          <p:cNvSpPr/>
          <p:nvPr/>
        </p:nvSpPr>
        <p:spPr>
          <a:xfrm>
            <a:off x="899517" y="5683448"/>
            <a:ext cx="284083" cy="355044"/>
          </a:xfrm>
          <a:prstGeom prst="rect">
            <a:avLst/>
          </a:prstGeom>
          <a:noFill/>
          <a:ln/>
        </p:spPr>
        <p:txBody>
          <a:bodyPr wrap="none" lIns="0" tIns="0" rIns="0" bIns="0" rtlCol="0" anchor="t"/>
          <a:lstStyle/>
          <a:p>
            <a:pPr marL="0" indent="0" algn="l">
              <a:lnSpc>
                <a:spcPts val="220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4</a:t>
            </a:r>
            <a:endParaRPr lang="en-US" sz="2200" dirty="0"/>
          </a:p>
        </p:txBody>
      </p:sp>
      <p:sp>
        <p:nvSpPr>
          <p:cNvPr id="14" name="Text 12"/>
          <p:cNvSpPr/>
          <p:nvPr/>
        </p:nvSpPr>
        <p:spPr>
          <a:xfrm>
            <a:off x="1609725" y="5482114"/>
            <a:ext cx="2228136" cy="278368"/>
          </a:xfrm>
          <a:prstGeom prst="rect">
            <a:avLst/>
          </a:prstGeom>
          <a:noFill/>
          <a:ln/>
        </p:spPr>
        <p:txBody>
          <a:bodyPr wrap="none" lIns="0" tIns="0" rIns="0" bIns="0" rtlCol="0" anchor="t"/>
          <a:lstStyle/>
          <a:p>
            <a:pPr marL="0" indent="0" algn="l">
              <a:lnSpc>
                <a:spcPts val="2150"/>
              </a:lnSpc>
              <a:buNone/>
            </a:pPr>
            <a:r>
              <a:rPr lang="en-US" sz="1750" dirty="0">
                <a:solidFill>
                  <a:srgbClr val="272525"/>
                </a:solidFill>
                <a:latin typeface="Source Serif Pro Semi Bold" pitchFamily="34" charset="0"/>
                <a:ea typeface="Source Serif Pro Semi Bold" pitchFamily="34" charset="-122"/>
                <a:cs typeface="Source Serif Pro Semi Bold" pitchFamily="34" charset="-120"/>
              </a:rPr>
              <a:t>Testing &amp; Results</a:t>
            </a:r>
            <a:endParaRPr lang="en-US" sz="1750" dirty="0"/>
          </a:p>
        </p:txBody>
      </p:sp>
      <p:sp>
        <p:nvSpPr>
          <p:cNvPr id="15" name="Shape 13"/>
          <p:cNvSpPr/>
          <p:nvPr/>
        </p:nvSpPr>
        <p:spPr>
          <a:xfrm>
            <a:off x="662821" y="6571178"/>
            <a:ext cx="757595" cy="1136333"/>
          </a:xfrm>
          <a:prstGeom prst="roundRect">
            <a:avLst>
              <a:gd name="adj" fmla="val 360003"/>
            </a:avLst>
          </a:prstGeom>
          <a:solidFill>
            <a:srgbClr val="F0D4F7"/>
          </a:solidFill>
          <a:ln w="7620">
            <a:solidFill>
              <a:srgbClr val="D6BADD"/>
            </a:solidFill>
            <a:prstDash val="solid"/>
          </a:ln>
        </p:spPr>
        <p:txBody>
          <a:bodyPr/>
          <a:lstStyle/>
          <a:p>
            <a:endParaRPr lang="en-US"/>
          </a:p>
        </p:txBody>
      </p:sp>
      <p:sp>
        <p:nvSpPr>
          <p:cNvPr id="16" name="Text 14"/>
          <p:cNvSpPr/>
          <p:nvPr/>
        </p:nvSpPr>
        <p:spPr>
          <a:xfrm>
            <a:off x="899517" y="6961823"/>
            <a:ext cx="284083" cy="355044"/>
          </a:xfrm>
          <a:prstGeom prst="rect">
            <a:avLst/>
          </a:prstGeom>
          <a:noFill/>
          <a:ln/>
        </p:spPr>
        <p:txBody>
          <a:bodyPr wrap="none" lIns="0" tIns="0" rIns="0" bIns="0" rtlCol="0" anchor="t"/>
          <a:lstStyle/>
          <a:p>
            <a:pPr marL="0" indent="0" algn="l">
              <a:lnSpc>
                <a:spcPts val="220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5</a:t>
            </a:r>
            <a:endParaRPr lang="en-US" sz="2200" dirty="0"/>
          </a:p>
        </p:txBody>
      </p:sp>
      <p:sp>
        <p:nvSpPr>
          <p:cNvPr id="17" name="Text 15"/>
          <p:cNvSpPr/>
          <p:nvPr/>
        </p:nvSpPr>
        <p:spPr>
          <a:xfrm>
            <a:off x="1609725" y="6760488"/>
            <a:ext cx="2228136" cy="278368"/>
          </a:xfrm>
          <a:prstGeom prst="rect">
            <a:avLst/>
          </a:prstGeom>
          <a:noFill/>
          <a:ln/>
        </p:spPr>
        <p:txBody>
          <a:bodyPr wrap="none" lIns="0" tIns="0" rIns="0" bIns="0" rtlCol="0" anchor="t"/>
          <a:lstStyle/>
          <a:p>
            <a:pPr marL="0" indent="0" algn="l">
              <a:lnSpc>
                <a:spcPts val="2150"/>
              </a:lnSpc>
              <a:buNone/>
            </a:pPr>
            <a:r>
              <a:rPr lang="en-US" sz="1750" dirty="0">
                <a:solidFill>
                  <a:srgbClr val="272525"/>
                </a:solidFill>
                <a:latin typeface="Source Serif Pro Semi Bold" pitchFamily="34" charset="0"/>
                <a:ea typeface="Source Serif Pro Semi Bold" pitchFamily="34" charset="-122"/>
                <a:cs typeface="Source Serif Pro Semi Bold" pitchFamily="34" charset="-120"/>
              </a:rPr>
              <a:t>References &amp; Q&amp;A</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1152049"/>
            <a:ext cx="8679537"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Project Execution: SDLC Overview</a:t>
            </a:r>
            <a:endParaRPr lang="en-US" sz="4400" dirty="0"/>
          </a:p>
        </p:txBody>
      </p:sp>
      <p:sp>
        <p:nvSpPr>
          <p:cNvPr id="3" name="Text 1"/>
          <p:cNvSpPr/>
          <p:nvPr/>
        </p:nvSpPr>
        <p:spPr>
          <a:xfrm>
            <a:off x="837724" y="2334816"/>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Our project adhered to a structured Software Development Life Cycle (SDLC) to ensure systematic progress and quality.</a:t>
            </a:r>
            <a:endParaRPr lang="en-US" sz="1850" dirty="0"/>
          </a:p>
        </p:txBody>
      </p:sp>
      <p:sp>
        <p:nvSpPr>
          <p:cNvPr id="4" name="Shape 2"/>
          <p:cNvSpPr/>
          <p:nvPr/>
        </p:nvSpPr>
        <p:spPr>
          <a:xfrm>
            <a:off x="837724" y="3346013"/>
            <a:ext cx="6387703" cy="239316"/>
          </a:xfrm>
          <a:prstGeom prst="roundRect">
            <a:avLst>
              <a:gd name="adj" fmla="val 42011"/>
            </a:avLst>
          </a:prstGeom>
          <a:solidFill>
            <a:srgbClr val="F0D4F7"/>
          </a:solidFill>
          <a:ln w="7620">
            <a:solidFill>
              <a:srgbClr val="D6BADD"/>
            </a:solidFill>
            <a:prstDash val="solid"/>
          </a:ln>
        </p:spPr>
        <p:txBody>
          <a:bodyPr/>
          <a:lstStyle/>
          <a:p>
            <a:endParaRPr lang="en-US"/>
          </a:p>
        </p:txBody>
      </p:sp>
      <p:sp>
        <p:nvSpPr>
          <p:cNvPr id="5" name="Text 3"/>
          <p:cNvSpPr/>
          <p:nvPr/>
        </p:nvSpPr>
        <p:spPr>
          <a:xfrm>
            <a:off x="1077039" y="3824645"/>
            <a:ext cx="5416272"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Phase 1: Requirement Analysis &amp; Research</a:t>
            </a:r>
            <a:endParaRPr lang="en-US" sz="2200" dirty="0"/>
          </a:p>
        </p:txBody>
      </p:sp>
      <p:sp>
        <p:nvSpPr>
          <p:cNvPr id="6" name="Text 4"/>
          <p:cNvSpPr/>
          <p:nvPr/>
        </p:nvSpPr>
        <p:spPr>
          <a:xfrm>
            <a:off x="1077039" y="4320183"/>
            <a:ext cx="590907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Defining system needs and reviewing existing solutions.</a:t>
            </a:r>
            <a:endParaRPr lang="en-US" sz="1850" dirty="0"/>
          </a:p>
        </p:txBody>
      </p:sp>
      <p:sp>
        <p:nvSpPr>
          <p:cNvPr id="7" name="Shape 5"/>
          <p:cNvSpPr/>
          <p:nvPr/>
        </p:nvSpPr>
        <p:spPr>
          <a:xfrm>
            <a:off x="7404854" y="2987040"/>
            <a:ext cx="6387822" cy="239316"/>
          </a:xfrm>
          <a:prstGeom prst="roundRect">
            <a:avLst>
              <a:gd name="adj" fmla="val 42011"/>
            </a:avLst>
          </a:prstGeom>
          <a:solidFill>
            <a:srgbClr val="F0D4F7"/>
          </a:solidFill>
          <a:ln w="7620">
            <a:solidFill>
              <a:srgbClr val="D6BADD"/>
            </a:solidFill>
            <a:prstDash val="solid"/>
          </a:ln>
        </p:spPr>
        <p:txBody>
          <a:bodyPr/>
          <a:lstStyle/>
          <a:p>
            <a:endParaRPr lang="en-US"/>
          </a:p>
        </p:txBody>
      </p:sp>
      <p:sp>
        <p:nvSpPr>
          <p:cNvPr id="8" name="Text 6"/>
          <p:cNvSpPr/>
          <p:nvPr/>
        </p:nvSpPr>
        <p:spPr>
          <a:xfrm>
            <a:off x="7644170" y="3465671"/>
            <a:ext cx="295596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Phase 2: System Design</a:t>
            </a:r>
            <a:endParaRPr lang="en-US" sz="2200" dirty="0"/>
          </a:p>
        </p:txBody>
      </p:sp>
      <p:sp>
        <p:nvSpPr>
          <p:cNvPr id="9" name="Text 7"/>
          <p:cNvSpPr/>
          <p:nvPr/>
        </p:nvSpPr>
        <p:spPr>
          <a:xfrm>
            <a:off x="7644170" y="3961209"/>
            <a:ext cx="5909191"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Architecting the system's components and interactions.</a:t>
            </a:r>
            <a:endParaRPr lang="en-US" sz="1850" dirty="0"/>
          </a:p>
        </p:txBody>
      </p:sp>
      <p:sp>
        <p:nvSpPr>
          <p:cNvPr id="10" name="Shape 8"/>
          <p:cNvSpPr/>
          <p:nvPr/>
        </p:nvSpPr>
        <p:spPr>
          <a:xfrm>
            <a:off x="837724" y="5480923"/>
            <a:ext cx="6387703" cy="239316"/>
          </a:xfrm>
          <a:prstGeom prst="roundRect">
            <a:avLst>
              <a:gd name="adj" fmla="val 42011"/>
            </a:avLst>
          </a:prstGeom>
          <a:solidFill>
            <a:srgbClr val="F0D4F7"/>
          </a:solidFill>
          <a:ln w="7620">
            <a:solidFill>
              <a:srgbClr val="D6BADD"/>
            </a:solidFill>
            <a:prstDash val="solid"/>
          </a:ln>
        </p:spPr>
        <p:txBody>
          <a:bodyPr/>
          <a:lstStyle/>
          <a:p>
            <a:endParaRPr lang="en-US"/>
          </a:p>
        </p:txBody>
      </p:sp>
      <p:sp>
        <p:nvSpPr>
          <p:cNvPr id="11" name="Text 9"/>
          <p:cNvSpPr/>
          <p:nvPr/>
        </p:nvSpPr>
        <p:spPr>
          <a:xfrm>
            <a:off x="1077039" y="5959554"/>
            <a:ext cx="3189089"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Phase 3: Implementation</a:t>
            </a:r>
            <a:endParaRPr lang="en-US" sz="2200" dirty="0"/>
          </a:p>
        </p:txBody>
      </p:sp>
      <p:sp>
        <p:nvSpPr>
          <p:cNvPr id="12" name="Text 10"/>
          <p:cNvSpPr/>
          <p:nvPr/>
        </p:nvSpPr>
        <p:spPr>
          <a:xfrm>
            <a:off x="1077039" y="6455093"/>
            <a:ext cx="590907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Developing the hardware and software modules.</a:t>
            </a:r>
            <a:endParaRPr lang="en-US" sz="1850" dirty="0"/>
          </a:p>
        </p:txBody>
      </p:sp>
      <p:sp>
        <p:nvSpPr>
          <p:cNvPr id="13" name="Shape 11"/>
          <p:cNvSpPr/>
          <p:nvPr/>
        </p:nvSpPr>
        <p:spPr>
          <a:xfrm>
            <a:off x="7404854" y="5121950"/>
            <a:ext cx="6387822" cy="239316"/>
          </a:xfrm>
          <a:prstGeom prst="roundRect">
            <a:avLst>
              <a:gd name="adj" fmla="val 42011"/>
            </a:avLst>
          </a:prstGeom>
          <a:solidFill>
            <a:srgbClr val="F0D4F7"/>
          </a:solidFill>
          <a:ln w="7620">
            <a:solidFill>
              <a:srgbClr val="D6BADD"/>
            </a:solidFill>
            <a:prstDash val="solid"/>
          </a:ln>
        </p:spPr>
        <p:txBody>
          <a:bodyPr/>
          <a:lstStyle/>
          <a:p>
            <a:endParaRPr lang="en-US"/>
          </a:p>
        </p:txBody>
      </p:sp>
      <p:sp>
        <p:nvSpPr>
          <p:cNvPr id="14" name="Text 12"/>
          <p:cNvSpPr/>
          <p:nvPr/>
        </p:nvSpPr>
        <p:spPr>
          <a:xfrm>
            <a:off x="7644170" y="5600581"/>
            <a:ext cx="329124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Phase 4: Testing &amp; Results</a:t>
            </a:r>
            <a:endParaRPr lang="en-US" sz="2200" dirty="0"/>
          </a:p>
        </p:txBody>
      </p:sp>
      <p:sp>
        <p:nvSpPr>
          <p:cNvPr id="15" name="Text 13"/>
          <p:cNvSpPr/>
          <p:nvPr/>
        </p:nvSpPr>
        <p:spPr>
          <a:xfrm>
            <a:off x="7644170" y="6096119"/>
            <a:ext cx="5909191"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Validating system performance and effectiveness.</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1913692"/>
            <a:ext cx="7128629"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Phase 1: Problem Statement</a:t>
            </a:r>
            <a:endParaRPr lang="en-US" sz="4400" dirty="0"/>
          </a:p>
        </p:txBody>
      </p:sp>
      <p:sp>
        <p:nvSpPr>
          <p:cNvPr id="3" name="Text 1"/>
          <p:cNvSpPr/>
          <p:nvPr/>
        </p:nvSpPr>
        <p:spPr>
          <a:xfrm>
            <a:off x="837724" y="3096458"/>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Manual monitoring in textile industries is inconsistent and unreliable, leading to significant risks.</a:t>
            </a:r>
            <a:endParaRPr lang="en-US" sz="1850" dirty="0"/>
          </a:p>
        </p:txBody>
      </p:sp>
      <p:sp>
        <p:nvSpPr>
          <p:cNvPr id="4" name="Shape 2"/>
          <p:cNvSpPr/>
          <p:nvPr/>
        </p:nvSpPr>
        <p:spPr>
          <a:xfrm>
            <a:off x="837724" y="3748683"/>
            <a:ext cx="4158734" cy="2567226"/>
          </a:xfrm>
          <a:prstGeom prst="roundRect">
            <a:avLst>
              <a:gd name="adj" fmla="val 5699"/>
            </a:avLst>
          </a:prstGeom>
          <a:noFill/>
          <a:ln w="30480">
            <a:solidFill>
              <a:srgbClr val="D6BADD"/>
            </a:solidFill>
            <a:prstDash val="solid"/>
          </a:ln>
        </p:spPr>
        <p:txBody>
          <a:bodyPr/>
          <a:lstStyle/>
          <a:p>
            <a:endParaRPr lang="en-US"/>
          </a:p>
        </p:txBody>
      </p:sp>
      <p:sp>
        <p:nvSpPr>
          <p:cNvPr id="5" name="Shape 3"/>
          <p:cNvSpPr/>
          <p:nvPr/>
        </p:nvSpPr>
        <p:spPr>
          <a:xfrm>
            <a:off x="807244" y="3748683"/>
            <a:ext cx="121920" cy="2567226"/>
          </a:xfrm>
          <a:prstGeom prst="roundRect">
            <a:avLst>
              <a:gd name="adj" fmla="val 82464"/>
            </a:avLst>
          </a:prstGeom>
          <a:solidFill>
            <a:srgbClr val="BE49DF"/>
          </a:solidFill>
          <a:ln/>
        </p:spPr>
        <p:txBody>
          <a:bodyPr/>
          <a:lstStyle/>
          <a:p>
            <a:endParaRPr lang="en-US"/>
          </a:p>
        </p:txBody>
      </p:sp>
      <p:sp>
        <p:nvSpPr>
          <p:cNvPr id="6" name="Text 4"/>
          <p:cNvSpPr/>
          <p:nvPr/>
        </p:nvSpPr>
        <p:spPr>
          <a:xfrm>
            <a:off x="1198959" y="4018478"/>
            <a:ext cx="3019544"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Environmental Hazards</a:t>
            </a:r>
            <a:endParaRPr lang="en-US" sz="2200" dirty="0"/>
          </a:p>
        </p:txBody>
      </p:sp>
      <p:sp>
        <p:nvSpPr>
          <p:cNvPr id="7" name="Text 5"/>
          <p:cNvSpPr/>
          <p:nvPr/>
        </p:nvSpPr>
        <p:spPr>
          <a:xfrm>
            <a:off x="1198959" y="4514017"/>
            <a:ext cx="3527703"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High temperatures and humidity cause severe heat stress and discomfort for workers.</a:t>
            </a:r>
            <a:endParaRPr lang="en-US" sz="1850" dirty="0"/>
          </a:p>
        </p:txBody>
      </p:sp>
      <p:sp>
        <p:nvSpPr>
          <p:cNvPr id="8" name="Shape 6"/>
          <p:cNvSpPr/>
          <p:nvPr/>
        </p:nvSpPr>
        <p:spPr>
          <a:xfrm>
            <a:off x="5235773" y="3748683"/>
            <a:ext cx="4158734" cy="2567226"/>
          </a:xfrm>
          <a:prstGeom prst="roundRect">
            <a:avLst>
              <a:gd name="adj" fmla="val 5699"/>
            </a:avLst>
          </a:prstGeom>
          <a:noFill/>
          <a:ln w="30480">
            <a:solidFill>
              <a:srgbClr val="D6BADD"/>
            </a:solidFill>
            <a:prstDash val="solid"/>
          </a:ln>
        </p:spPr>
        <p:txBody>
          <a:bodyPr/>
          <a:lstStyle/>
          <a:p>
            <a:endParaRPr lang="en-US"/>
          </a:p>
        </p:txBody>
      </p:sp>
      <p:sp>
        <p:nvSpPr>
          <p:cNvPr id="9" name="Shape 7"/>
          <p:cNvSpPr/>
          <p:nvPr/>
        </p:nvSpPr>
        <p:spPr>
          <a:xfrm>
            <a:off x="5205293" y="3748683"/>
            <a:ext cx="121920" cy="2567226"/>
          </a:xfrm>
          <a:prstGeom prst="roundRect">
            <a:avLst>
              <a:gd name="adj" fmla="val 82464"/>
            </a:avLst>
          </a:prstGeom>
          <a:solidFill>
            <a:srgbClr val="BE49DF"/>
          </a:solidFill>
          <a:ln/>
        </p:spPr>
        <p:txBody>
          <a:bodyPr/>
          <a:lstStyle/>
          <a:p>
            <a:endParaRPr lang="en-US"/>
          </a:p>
        </p:txBody>
      </p:sp>
      <p:sp>
        <p:nvSpPr>
          <p:cNvPr id="10" name="Text 8"/>
          <p:cNvSpPr/>
          <p:nvPr/>
        </p:nvSpPr>
        <p:spPr>
          <a:xfrm>
            <a:off x="5597009" y="4018478"/>
            <a:ext cx="2833807"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Hazardous Zone Entry</a:t>
            </a:r>
            <a:endParaRPr lang="en-US" sz="2200" dirty="0"/>
          </a:p>
        </p:txBody>
      </p:sp>
      <p:sp>
        <p:nvSpPr>
          <p:cNvPr id="11" name="Text 9"/>
          <p:cNvSpPr/>
          <p:nvPr/>
        </p:nvSpPr>
        <p:spPr>
          <a:xfrm>
            <a:off x="5597009" y="4514017"/>
            <a:ext cx="3527703"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Workers inadvertently entering dangerous machinery areas, leading to potential injuries.</a:t>
            </a:r>
            <a:endParaRPr lang="en-US" sz="1850" dirty="0"/>
          </a:p>
        </p:txBody>
      </p:sp>
      <p:sp>
        <p:nvSpPr>
          <p:cNvPr id="12" name="Shape 10"/>
          <p:cNvSpPr/>
          <p:nvPr/>
        </p:nvSpPr>
        <p:spPr>
          <a:xfrm>
            <a:off x="9633823" y="3748683"/>
            <a:ext cx="4158853" cy="2567226"/>
          </a:xfrm>
          <a:prstGeom prst="roundRect">
            <a:avLst>
              <a:gd name="adj" fmla="val 5699"/>
            </a:avLst>
          </a:prstGeom>
          <a:noFill/>
          <a:ln w="30480">
            <a:solidFill>
              <a:srgbClr val="D6BADD"/>
            </a:solidFill>
            <a:prstDash val="solid"/>
          </a:ln>
        </p:spPr>
        <p:txBody>
          <a:bodyPr/>
          <a:lstStyle/>
          <a:p>
            <a:endParaRPr lang="en-US"/>
          </a:p>
        </p:txBody>
      </p:sp>
      <p:sp>
        <p:nvSpPr>
          <p:cNvPr id="13" name="Shape 11"/>
          <p:cNvSpPr/>
          <p:nvPr/>
        </p:nvSpPr>
        <p:spPr>
          <a:xfrm>
            <a:off x="9603343" y="3748683"/>
            <a:ext cx="121920" cy="2567226"/>
          </a:xfrm>
          <a:prstGeom prst="roundRect">
            <a:avLst>
              <a:gd name="adj" fmla="val 82464"/>
            </a:avLst>
          </a:prstGeom>
          <a:solidFill>
            <a:srgbClr val="BE49DF"/>
          </a:solidFill>
          <a:ln/>
        </p:spPr>
        <p:txBody>
          <a:bodyPr/>
          <a:lstStyle/>
          <a:p>
            <a:endParaRPr lang="en-US"/>
          </a:p>
        </p:txBody>
      </p:sp>
      <p:sp>
        <p:nvSpPr>
          <p:cNvPr id="14" name="Text 12"/>
          <p:cNvSpPr/>
          <p:nvPr/>
        </p:nvSpPr>
        <p:spPr>
          <a:xfrm>
            <a:off x="9995059" y="4018478"/>
            <a:ext cx="301311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Machinery Malfunction</a:t>
            </a:r>
            <a:endParaRPr lang="en-US" sz="2200" dirty="0"/>
          </a:p>
        </p:txBody>
      </p:sp>
      <p:sp>
        <p:nvSpPr>
          <p:cNvPr id="15" name="Text 13"/>
          <p:cNvSpPr/>
          <p:nvPr/>
        </p:nvSpPr>
        <p:spPr>
          <a:xfrm>
            <a:off x="9995059" y="4514017"/>
            <a:ext cx="3527822" cy="1532096"/>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Undetected vibrations and anomalies cause significant damage to critical equipment, leading to costly downtime.</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1042868"/>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Project Objectives</a:t>
            </a:r>
            <a:endParaRPr lang="en-US" sz="4400" dirty="0"/>
          </a:p>
        </p:txBody>
      </p:sp>
      <p:sp>
        <p:nvSpPr>
          <p:cNvPr id="3" name="Text 1"/>
          <p:cNvSpPr/>
          <p:nvPr/>
        </p:nvSpPr>
        <p:spPr>
          <a:xfrm>
            <a:off x="837724" y="2225635"/>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Our system aims to address these challenges through automated, real-time safety measures.</a:t>
            </a:r>
            <a:endParaRPr lang="en-US" sz="1850" dirty="0"/>
          </a:p>
        </p:txBody>
      </p:sp>
      <p:pic>
        <p:nvPicPr>
          <p:cNvPr id="4" name="Image 0" descr="preencoded.png"/>
          <p:cNvPicPr>
            <a:picLocks noChangeAspect="1"/>
          </p:cNvPicPr>
          <p:nvPr/>
        </p:nvPicPr>
        <p:blipFill>
          <a:blip r:embed="rId3"/>
          <a:stretch>
            <a:fillRect/>
          </a:stretch>
        </p:blipFill>
        <p:spPr>
          <a:xfrm>
            <a:off x="837724" y="2877860"/>
            <a:ext cx="1196816" cy="1436251"/>
          </a:xfrm>
          <a:prstGeom prst="rect">
            <a:avLst/>
          </a:prstGeom>
        </p:spPr>
      </p:pic>
      <p:sp>
        <p:nvSpPr>
          <p:cNvPr id="5" name="Text 2"/>
          <p:cNvSpPr/>
          <p:nvPr/>
        </p:nvSpPr>
        <p:spPr>
          <a:xfrm>
            <a:off x="2273856" y="3117175"/>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Real-time Monitoring</a:t>
            </a:r>
            <a:endParaRPr lang="en-US" sz="2200" dirty="0"/>
          </a:p>
        </p:txBody>
      </p:sp>
      <p:sp>
        <p:nvSpPr>
          <p:cNvPr id="6" name="Text 3"/>
          <p:cNvSpPr/>
          <p:nvPr/>
        </p:nvSpPr>
        <p:spPr>
          <a:xfrm>
            <a:off x="2273856" y="3612713"/>
            <a:ext cx="11518821"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Continuously monitor environmental parameters and machine vibrations.</a:t>
            </a:r>
            <a:endParaRPr lang="en-US" sz="1850" dirty="0"/>
          </a:p>
        </p:txBody>
      </p:sp>
      <p:pic>
        <p:nvPicPr>
          <p:cNvPr id="7" name="Image 1" descr="preencoded.png"/>
          <p:cNvPicPr>
            <a:picLocks noChangeAspect="1"/>
          </p:cNvPicPr>
          <p:nvPr/>
        </p:nvPicPr>
        <p:blipFill>
          <a:blip r:embed="rId4"/>
          <a:stretch>
            <a:fillRect/>
          </a:stretch>
        </p:blipFill>
        <p:spPr>
          <a:xfrm>
            <a:off x="837724" y="4314111"/>
            <a:ext cx="1196816" cy="1436251"/>
          </a:xfrm>
          <a:prstGeom prst="rect">
            <a:avLst/>
          </a:prstGeom>
        </p:spPr>
      </p:pic>
      <p:sp>
        <p:nvSpPr>
          <p:cNvPr id="8" name="Text 4"/>
          <p:cNvSpPr/>
          <p:nvPr/>
        </p:nvSpPr>
        <p:spPr>
          <a:xfrm>
            <a:off x="2273856" y="4553426"/>
            <a:ext cx="3410307"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Automated Risk Mitigation</a:t>
            </a:r>
            <a:endParaRPr lang="en-US" sz="2200" dirty="0"/>
          </a:p>
        </p:txBody>
      </p:sp>
      <p:sp>
        <p:nvSpPr>
          <p:cNvPr id="9" name="Text 5"/>
          <p:cNvSpPr/>
          <p:nvPr/>
        </p:nvSpPr>
        <p:spPr>
          <a:xfrm>
            <a:off x="2273856" y="5048964"/>
            <a:ext cx="11518821"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Implement automatic detection and mitigation of identified safety risks.</a:t>
            </a:r>
            <a:endParaRPr lang="en-US" sz="1850" dirty="0"/>
          </a:p>
        </p:txBody>
      </p:sp>
      <p:pic>
        <p:nvPicPr>
          <p:cNvPr id="10" name="Image 2" descr="preencoded.png"/>
          <p:cNvPicPr>
            <a:picLocks noChangeAspect="1"/>
          </p:cNvPicPr>
          <p:nvPr/>
        </p:nvPicPr>
        <p:blipFill>
          <a:blip r:embed="rId5"/>
          <a:stretch>
            <a:fillRect/>
          </a:stretch>
        </p:blipFill>
        <p:spPr>
          <a:xfrm>
            <a:off x="837724" y="5750362"/>
            <a:ext cx="1196816" cy="1436251"/>
          </a:xfrm>
          <a:prstGeom prst="rect">
            <a:avLst/>
          </a:prstGeom>
        </p:spPr>
      </p:pic>
      <p:sp>
        <p:nvSpPr>
          <p:cNvPr id="11" name="Text 6"/>
          <p:cNvSpPr/>
          <p:nvPr/>
        </p:nvSpPr>
        <p:spPr>
          <a:xfrm>
            <a:off x="2273856" y="5989677"/>
            <a:ext cx="3165158"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Threshold-based Actions</a:t>
            </a:r>
            <a:endParaRPr lang="en-US" sz="2200" dirty="0"/>
          </a:p>
        </p:txBody>
      </p:sp>
      <p:sp>
        <p:nvSpPr>
          <p:cNvPr id="12" name="Text 7"/>
          <p:cNvSpPr/>
          <p:nvPr/>
        </p:nvSpPr>
        <p:spPr>
          <a:xfrm>
            <a:off x="2273856" y="6485215"/>
            <a:ext cx="11518821"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Automatically stop machinery motors and trigger immediate alerts when danger thresholds are exceeded.</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073348"/>
            <a:ext cx="6894909"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Literature Review Findings</a:t>
            </a:r>
            <a:endParaRPr lang="en-US" sz="4400" dirty="0"/>
          </a:p>
        </p:txBody>
      </p:sp>
      <p:sp>
        <p:nvSpPr>
          <p:cNvPr id="3" name="Text 1"/>
          <p:cNvSpPr/>
          <p:nvPr/>
        </p:nvSpPr>
        <p:spPr>
          <a:xfrm>
            <a:off x="837724" y="2256115"/>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Our system design aligns with established research on textile industry safety standards.</a:t>
            </a:r>
            <a:endParaRPr lang="en-US" sz="1850" dirty="0"/>
          </a:p>
        </p:txBody>
      </p:sp>
      <p:sp>
        <p:nvSpPr>
          <p:cNvPr id="4" name="Text 2"/>
          <p:cNvSpPr/>
          <p:nvPr/>
        </p:nvSpPr>
        <p:spPr>
          <a:xfrm>
            <a:off x="837724" y="3147655"/>
            <a:ext cx="3132773"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Worker Safety Standards</a:t>
            </a:r>
            <a:endParaRPr lang="en-US" sz="2200" dirty="0"/>
          </a:p>
        </p:txBody>
      </p:sp>
      <p:sp>
        <p:nvSpPr>
          <p:cNvPr id="5" name="Text 3"/>
          <p:cNvSpPr/>
          <p:nvPr/>
        </p:nvSpPr>
        <p:spPr>
          <a:xfrm>
            <a:off x="837724" y="3738920"/>
            <a:ext cx="6185535"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Kavin et al. (2019) recommend maintaining </a:t>
            </a:r>
            <a:r>
              <a:rPr lang="en-US" sz="1850" b="1" dirty="0">
                <a:solidFill>
                  <a:srgbClr val="272525"/>
                </a:solidFill>
                <a:latin typeface="Source Sans Pro" pitchFamily="34" charset="0"/>
                <a:ea typeface="Source Sans Pro" pitchFamily="34" charset="-122"/>
                <a:cs typeface="Source Sans Pro" pitchFamily="34" charset="-120"/>
              </a:rPr>
              <a:t>temperature below 27°C</a:t>
            </a:r>
            <a:r>
              <a:rPr lang="en-US" sz="1850" dirty="0">
                <a:solidFill>
                  <a:srgbClr val="272525"/>
                </a:solidFill>
                <a:latin typeface="Source Sans Pro" pitchFamily="34" charset="0"/>
                <a:ea typeface="Source Sans Pro" pitchFamily="34" charset="-122"/>
                <a:cs typeface="Source Sans Pro" pitchFamily="34" charset="-120"/>
              </a:rPr>
              <a:t> and </a:t>
            </a:r>
            <a:r>
              <a:rPr lang="en-US" sz="1850" b="1" dirty="0">
                <a:solidFill>
                  <a:srgbClr val="272525"/>
                </a:solidFill>
                <a:latin typeface="Source Sans Pro" pitchFamily="34" charset="0"/>
                <a:ea typeface="Source Sans Pro" pitchFamily="34" charset="-122"/>
                <a:cs typeface="Source Sans Pro" pitchFamily="34" charset="-120"/>
              </a:rPr>
              <a:t>humidity below 73%</a:t>
            </a:r>
            <a:r>
              <a:rPr lang="en-US" sz="1850" dirty="0">
                <a:solidFill>
                  <a:srgbClr val="272525"/>
                </a:solidFill>
                <a:latin typeface="Source Sans Pro" pitchFamily="34" charset="0"/>
                <a:ea typeface="Source Sans Pro" pitchFamily="34" charset="-122"/>
                <a:cs typeface="Source Sans Pro" pitchFamily="34" charset="-120"/>
              </a:rPr>
              <a:t> for optimal worker safety and comfort.</a:t>
            </a:r>
            <a:endParaRPr lang="en-US" sz="1850" dirty="0"/>
          </a:p>
        </p:txBody>
      </p:sp>
      <p:sp>
        <p:nvSpPr>
          <p:cNvPr id="6" name="Shape 4"/>
          <p:cNvSpPr/>
          <p:nvPr/>
        </p:nvSpPr>
        <p:spPr>
          <a:xfrm>
            <a:off x="837724" y="5276807"/>
            <a:ext cx="6185535" cy="37505"/>
          </a:xfrm>
          <a:prstGeom prst="rect">
            <a:avLst/>
          </a:prstGeom>
          <a:solidFill>
            <a:srgbClr val="272525">
              <a:alpha val="50000"/>
            </a:srgbClr>
          </a:solidFill>
          <a:ln/>
        </p:spPr>
        <p:txBody>
          <a:bodyPr/>
          <a:lstStyle/>
          <a:p>
            <a:endParaRPr lang="en-US"/>
          </a:p>
        </p:txBody>
      </p:sp>
      <p:sp>
        <p:nvSpPr>
          <p:cNvPr id="7" name="Text 5"/>
          <p:cNvSpPr/>
          <p:nvPr/>
        </p:nvSpPr>
        <p:spPr>
          <a:xfrm>
            <a:off x="837724" y="5583436"/>
            <a:ext cx="4313992"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Real-time Monitoring Importance</a:t>
            </a:r>
            <a:endParaRPr lang="en-US" sz="2200" dirty="0"/>
          </a:p>
        </p:txBody>
      </p:sp>
      <p:sp>
        <p:nvSpPr>
          <p:cNvPr id="8" name="Text 6"/>
          <p:cNvSpPr/>
          <p:nvPr/>
        </p:nvSpPr>
        <p:spPr>
          <a:xfrm>
            <a:off x="837724" y="6174700"/>
            <a:ext cx="6185535"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Ramachandran et al. (2020) emphasize the critical role of real-time monitoring systems in preventing industrial accidents.</a:t>
            </a:r>
            <a:endParaRPr lang="en-US" sz="1850" dirty="0"/>
          </a:p>
        </p:txBody>
      </p:sp>
      <p:sp>
        <p:nvSpPr>
          <p:cNvPr id="9" name="Text 7"/>
          <p:cNvSpPr/>
          <p:nvPr/>
        </p:nvSpPr>
        <p:spPr>
          <a:xfrm>
            <a:off x="7614761" y="3147655"/>
            <a:ext cx="3341608"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Automated Safety Systems</a:t>
            </a:r>
            <a:endParaRPr lang="en-US" sz="2200" dirty="0"/>
          </a:p>
        </p:txBody>
      </p:sp>
      <p:sp>
        <p:nvSpPr>
          <p:cNvPr id="10" name="Text 8"/>
          <p:cNvSpPr/>
          <p:nvPr/>
        </p:nvSpPr>
        <p:spPr>
          <a:xfrm>
            <a:off x="7614761" y="3738920"/>
            <a:ext cx="6185535"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Sharma et al. (2021) demonstrated that automated safety systems significantly reduce injury rates in industrial settings.</a:t>
            </a:r>
            <a:endParaRPr lang="en-US" sz="1850" dirty="0"/>
          </a:p>
        </p:txBody>
      </p:sp>
      <p:sp>
        <p:nvSpPr>
          <p:cNvPr id="11" name="Shape 9"/>
          <p:cNvSpPr/>
          <p:nvPr/>
        </p:nvSpPr>
        <p:spPr>
          <a:xfrm>
            <a:off x="7614761" y="4893783"/>
            <a:ext cx="6185535" cy="37505"/>
          </a:xfrm>
          <a:prstGeom prst="rect">
            <a:avLst/>
          </a:prstGeom>
          <a:solidFill>
            <a:srgbClr val="272525">
              <a:alpha val="50000"/>
            </a:srgbClr>
          </a:solidFill>
          <a:ln/>
        </p:spPr>
        <p:txBody>
          <a:bodyPr/>
          <a:lstStyle/>
          <a:p>
            <a:endParaRPr lang="en-US"/>
          </a:p>
        </p:txBody>
      </p:sp>
      <p:sp>
        <p:nvSpPr>
          <p:cNvPr id="12" name="Text 10"/>
          <p:cNvSpPr/>
          <p:nvPr/>
        </p:nvSpPr>
        <p:spPr>
          <a:xfrm>
            <a:off x="7614761" y="5200412"/>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System Alignment</a:t>
            </a:r>
            <a:endParaRPr lang="en-US" sz="2200" dirty="0"/>
          </a:p>
        </p:txBody>
      </p:sp>
      <p:sp>
        <p:nvSpPr>
          <p:cNvPr id="13" name="Text 11"/>
          <p:cNvSpPr/>
          <p:nvPr/>
        </p:nvSpPr>
        <p:spPr>
          <a:xfrm>
            <a:off x="7614761" y="5791676"/>
            <a:ext cx="6185535"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Our project's design incorporates these key findings to create a robust and compliant safety solution.</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1950244"/>
            <a:ext cx="7122914"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Key Takeaways &amp; Next Steps</a:t>
            </a:r>
            <a:endParaRPr lang="en-US" sz="4400" dirty="0"/>
          </a:p>
        </p:txBody>
      </p:sp>
      <p:sp>
        <p:nvSpPr>
          <p:cNvPr id="3" name="Text 1"/>
          <p:cNvSpPr/>
          <p:nvPr/>
        </p:nvSpPr>
        <p:spPr>
          <a:xfrm>
            <a:off x="837724" y="3252549"/>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Key Takeaways</a:t>
            </a:r>
            <a:endParaRPr lang="en-US" sz="2200" dirty="0"/>
          </a:p>
        </p:txBody>
      </p:sp>
      <p:sp>
        <p:nvSpPr>
          <p:cNvPr id="4" name="Text 2"/>
          <p:cNvSpPr/>
          <p:nvPr/>
        </p:nvSpPr>
        <p:spPr>
          <a:xfrm>
            <a:off x="837724" y="3843814"/>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272525"/>
                </a:solidFill>
                <a:latin typeface="Source Sans Pro" pitchFamily="34" charset="0"/>
                <a:ea typeface="Source Sans Pro" pitchFamily="34" charset="-122"/>
                <a:cs typeface="Source Sans Pro" pitchFamily="34" charset="-120"/>
              </a:rPr>
              <a:t>Proactive safety measures mitigate risks.</a:t>
            </a:r>
            <a:endParaRPr lang="en-US" sz="1850" dirty="0"/>
          </a:p>
        </p:txBody>
      </p:sp>
      <p:sp>
        <p:nvSpPr>
          <p:cNvPr id="5" name="Text 3"/>
          <p:cNvSpPr/>
          <p:nvPr/>
        </p:nvSpPr>
        <p:spPr>
          <a:xfrm>
            <a:off x="837724" y="4310539"/>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272525"/>
                </a:solidFill>
                <a:latin typeface="Source Sans Pro" pitchFamily="34" charset="0"/>
                <a:ea typeface="Source Sans Pro" pitchFamily="34" charset="-122"/>
                <a:cs typeface="Source Sans Pro" pitchFamily="34" charset="-120"/>
              </a:rPr>
              <a:t>Real-time data is crucial for prevention.</a:t>
            </a:r>
            <a:endParaRPr lang="en-US" sz="1850" dirty="0"/>
          </a:p>
        </p:txBody>
      </p:sp>
      <p:sp>
        <p:nvSpPr>
          <p:cNvPr id="6" name="Text 4"/>
          <p:cNvSpPr/>
          <p:nvPr/>
        </p:nvSpPr>
        <p:spPr>
          <a:xfrm>
            <a:off x="837724" y="4777264"/>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272525"/>
                </a:solidFill>
                <a:latin typeface="Source Sans Pro" pitchFamily="34" charset="0"/>
                <a:ea typeface="Source Sans Pro" pitchFamily="34" charset="-122"/>
                <a:cs typeface="Source Sans Pro" pitchFamily="34" charset="-120"/>
              </a:rPr>
              <a:t>Automated systems enhance workplace safety.</a:t>
            </a:r>
            <a:endParaRPr lang="en-US" sz="1850" dirty="0"/>
          </a:p>
        </p:txBody>
      </p:sp>
      <p:sp>
        <p:nvSpPr>
          <p:cNvPr id="7" name="Text 5"/>
          <p:cNvSpPr/>
          <p:nvPr/>
        </p:nvSpPr>
        <p:spPr>
          <a:xfrm>
            <a:off x="7614761" y="3252549"/>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Next Steps</a:t>
            </a:r>
            <a:endParaRPr lang="en-US" sz="2200" dirty="0"/>
          </a:p>
        </p:txBody>
      </p:sp>
      <p:sp>
        <p:nvSpPr>
          <p:cNvPr id="8" name="Text 6"/>
          <p:cNvSpPr/>
          <p:nvPr/>
        </p:nvSpPr>
        <p:spPr>
          <a:xfrm>
            <a:off x="7614761" y="3843814"/>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272525"/>
                </a:solidFill>
                <a:latin typeface="Source Sans Pro" pitchFamily="34" charset="0"/>
                <a:ea typeface="Source Sans Pro" pitchFamily="34" charset="-122"/>
                <a:cs typeface="Source Sans Pro" pitchFamily="34" charset="-120"/>
              </a:rPr>
              <a:t>Pilot deployment in a live textile facility.</a:t>
            </a:r>
            <a:endParaRPr lang="en-US" sz="1850" dirty="0"/>
          </a:p>
        </p:txBody>
      </p:sp>
      <p:sp>
        <p:nvSpPr>
          <p:cNvPr id="9" name="Text 7"/>
          <p:cNvSpPr/>
          <p:nvPr/>
        </p:nvSpPr>
        <p:spPr>
          <a:xfrm>
            <a:off x="7614761" y="4310539"/>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272525"/>
                </a:solidFill>
                <a:latin typeface="Source Sans Pro" pitchFamily="34" charset="0"/>
                <a:ea typeface="Source Sans Pro" pitchFamily="34" charset="-122"/>
                <a:cs typeface="Source Sans Pro" pitchFamily="34" charset="-120"/>
              </a:rPr>
              <a:t>Gather user feedback for iterative improvements.</a:t>
            </a:r>
            <a:endParaRPr lang="en-US" sz="1850" dirty="0"/>
          </a:p>
        </p:txBody>
      </p:sp>
      <p:sp>
        <p:nvSpPr>
          <p:cNvPr id="10" name="Text 8"/>
          <p:cNvSpPr/>
          <p:nvPr/>
        </p:nvSpPr>
        <p:spPr>
          <a:xfrm>
            <a:off x="7614761" y="4777264"/>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272525"/>
                </a:solidFill>
                <a:latin typeface="Source Sans Pro" pitchFamily="34" charset="0"/>
                <a:ea typeface="Source Sans Pro" pitchFamily="34" charset="-122"/>
                <a:cs typeface="Source Sans Pro" pitchFamily="34" charset="-120"/>
              </a:rPr>
              <a:t>Explore integration with existing factory management systems.</a:t>
            </a:r>
            <a:endParaRPr lang="en-US" sz="1850" dirty="0"/>
          </a:p>
        </p:txBody>
      </p:sp>
      <p:sp>
        <p:nvSpPr>
          <p:cNvPr id="11" name="Text 9"/>
          <p:cNvSpPr/>
          <p:nvPr/>
        </p:nvSpPr>
        <p:spPr>
          <a:xfrm>
            <a:off x="837724" y="5896213"/>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Thank you for your time and attention. We are now open for questions.</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1229678"/>
            <a:ext cx="2955965"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Phase 2: System Design</a:t>
            </a:r>
            <a:endParaRPr lang="en-US" sz="2200" dirty="0"/>
          </a:p>
        </p:txBody>
      </p:sp>
      <p:sp>
        <p:nvSpPr>
          <p:cNvPr id="3" name="Text 1"/>
          <p:cNvSpPr/>
          <p:nvPr/>
        </p:nvSpPr>
        <p:spPr>
          <a:xfrm>
            <a:off x="837724" y="1820942"/>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Solution Overview</a:t>
            </a:r>
            <a:endParaRPr lang="en-US" sz="4400" dirty="0"/>
          </a:p>
        </p:txBody>
      </p:sp>
      <p:sp>
        <p:nvSpPr>
          <p:cNvPr id="4" name="Text 2"/>
          <p:cNvSpPr/>
          <p:nvPr/>
        </p:nvSpPr>
        <p:spPr>
          <a:xfrm>
            <a:off x="837724" y="2883932"/>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Our system is engineered to create a safer textile manufacturing environment. By integrating a network of sensors with a central microcontroller and various actuators, we've developed a robust solution for continuous safety monitoring.</a:t>
            </a:r>
            <a:endParaRPr lang="en-US" sz="1850" dirty="0"/>
          </a:p>
        </p:txBody>
      </p:sp>
      <p:pic>
        <p:nvPicPr>
          <p:cNvPr id="5" name="Image 0" descr="preencoded.png"/>
          <p:cNvPicPr>
            <a:picLocks noChangeAspect="1"/>
          </p:cNvPicPr>
          <p:nvPr/>
        </p:nvPicPr>
        <p:blipFill>
          <a:blip r:embed="rId3"/>
          <a:stretch>
            <a:fillRect/>
          </a:stretch>
        </p:blipFill>
        <p:spPr>
          <a:xfrm>
            <a:off x="837724" y="3919180"/>
            <a:ext cx="4318278" cy="957501"/>
          </a:xfrm>
          <a:prstGeom prst="rect">
            <a:avLst/>
          </a:prstGeom>
        </p:spPr>
      </p:pic>
      <p:sp>
        <p:nvSpPr>
          <p:cNvPr id="6" name="Text 3"/>
          <p:cNvSpPr/>
          <p:nvPr/>
        </p:nvSpPr>
        <p:spPr>
          <a:xfrm>
            <a:off x="1077039" y="511599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Sensors</a:t>
            </a:r>
            <a:endParaRPr lang="en-US" sz="2200" dirty="0"/>
          </a:p>
        </p:txBody>
      </p:sp>
      <p:sp>
        <p:nvSpPr>
          <p:cNvPr id="7" name="Text 4"/>
          <p:cNvSpPr/>
          <p:nvPr/>
        </p:nvSpPr>
        <p:spPr>
          <a:xfrm>
            <a:off x="1077039" y="5611535"/>
            <a:ext cx="3839647"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Continuous data acquisition from environmental and operational parameters.</a:t>
            </a:r>
            <a:endParaRPr lang="en-US" sz="1850" dirty="0"/>
          </a:p>
        </p:txBody>
      </p:sp>
      <p:pic>
        <p:nvPicPr>
          <p:cNvPr id="8" name="Image 1" descr="preencoded.png"/>
          <p:cNvPicPr>
            <a:picLocks noChangeAspect="1"/>
          </p:cNvPicPr>
          <p:nvPr/>
        </p:nvPicPr>
        <p:blipFill>
          <a:blip r:embed="rId4"/>
          <a:stretch>
            <a:fillRect/>
          </a:stretch>
        </p:blipFill>
        <p:spPr>
          <a:xfrm>
            <a:off x="5156002" y="3919180"/>
            <a:ext cx="4318278" cy="957501"/>
          </a:xfrm>
          <a:prstGeom prst="rect">
            <a:avLst/>
          </a:prstGeom>
        </p:spPr>
      </p:pic>
      <p:sp>
        <p:nvSpPr>
          <p:cNvPr id="9" name="Text 5"/>
          <p:cNvSpPr/>
          <p:nvPr/>
        </p:nvSpPr>
        <p:spPr>
          <a:xfrm>
            <a:off x="5395317" y="511599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Microcontroller</a:t>
            </a:r>
            <a:endParaRPr lang="en-US" sz="2200" dirty="0"/>
          </a:p>
        </p:txBody>
      </p:sp>
      <p:sp>
        <p:nvSpPr>
          <p:cNvPr id="10" name="Text 6"/>
          <p:cNvSpPr/>
          <p:nvPr/>
        </p:nvSpPr>
        <p:spPr>
          <a:xfrm>
            <a:off x="5395317" y="5611535"/>
            <a:ext cx="3839647"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Real-time processing of sensor data against predefined safety thresholds.</a:t>
            </a:r>
            <a:endParaRPr lang="en-US" sz="1850" dirty="0"/>
          </a:p>
        </p:txBody>
      </p:sp>
      <p:pic>
        <p:nvPicPr>
          <p:cNvPr id="11" name="Image 2" descr="preencoded.png"/>
          <p:cNvPicPr>
            <a:picLocks noChangeAspect="1"/>
          </p:cNvPicPr>
          <p:nvPr/>
        </p:nvPicPr>
        <p:blipFill>
          <a:blip r:embed="rId5"/>
          <a:stretch>
            <a:fillRect/>
          </a:stretch>
        </p:blipFill>
        <p:spPr>
          <a:xfrm>
            <a:off x="9474279" y="3919180"/>
            <a:ext cx="4318278" cy="957501"/>
          </a:xfrm>
          <a:prstGeom prst="rect">
            <a:avLst/>
          </a:prstGeom>
        </p:spPr>
      </p:pic>
      <p:sp>
        <p:nvSpPr>
          <p:cNvPr id="12" name="Text 7"/>
          <p:cNvSpPr/>
          <p:nvPr/>
        </p:nvSpPr>
        <p:spPr>
          <a:xfrm>
            <a:off x="9713595" y="511599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Actuators</a:t>
            </a:r>
            <a:endParaRPr lang="en-US" sz="2200" dirty="0"/>
          </a:p>
        </p:txBody>
      </p:sp>
      <p:sp>
        <p:nvSpPr>
          <p:cNvPr id="13" name="Text 8"/>
          <p:cNvSpPr/>
          <p:nvPr/>
        </p:nvSpPr>
        <p:spPr>
          <a:xfrm>
            <a:off x="9713595" y="5611535"/>
            <a:ext cx="3839647"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Automated responses, including machinery shutdown and immediate alerts.</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8" name="Text 3"/>
          <p:cNvSpPr/>
          <p:nvPr/>
        </p:nvSpPr>
        <p:spPr>
          <a:xfrm>
            <a:off x="837724" y="2817257"/>
            <a:ext cx="5702618"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System Block Diagram</a:t>
            </a:r>
            <a:endParaRPr lang="en-US" sz="4400" dirty="0"/>
          </a:p>
        </p:txBody>
      </p:sp>
      <p:sp>
        <p:nvSpPr>
          <p:cNvPr id="9" name="Text 4"/>
          <p:cNvSpPr/>
          <p:nvPr/>
        </p:nvSpPr>
        <p:spPr>
          <a:xfrm>
            <a:off x="837725" y="3880247"/>
            <a:ext cx="6328732" cy="1532096"/>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The system block diagram illustrates the flow of information and control within our safety monitoring solution. Input from various sensors feeds into the STM32 microcontroller, which then processes this data to control machinery motors and activate critical alerts.</a:t>
            </a:r>
            <a:endParaRPr lang="en-US" sz="1850" dirty="0"/>
          </a:p>
        </p:txBody>
      </p:sp>
      <p:pic>
        <p:nvPicPr>
          <p:cNvPr id="3" name="Picture 2" descr="drawing, Grouped object">
            <a:extLst>
              <a:ext uri="{FF2B5EF4-FFF2-40B4-BE49-F238E27FC236}">
                <a16:creationId xmlns:a16="http://schemas.microsoft.com/office/drawing/2014/main" id="{96942E6E-14A7-E165-1873-16A415F042E5}"/>
              </a:ext>
            </a:extLst>
          </p:cNvPr>
          <p:cNvPicPr>
            <a:picLocks noChangeAspect="1"/>
          </p:cNvPicPr>
          <p:nvPr/>
        </p:nvPicPr>
        <p:blipFill>
          <a:blip r:embed="rId4"/>
          <a:stretch>
            <a:fillRect/>
          </a:stretch>
        </p:blipFill>
        <p:spPr>
          <a:xfrm>
            <a:off x="7696200" y="1578692"/>
            <a:ext cx="5943600" cy="43053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25579" y="650438"/>
            <a:ext cx="6163866" cy="693777"/>
          </a:xfrm>
          <a:prstGeom prst="rect">
            <a:avLst/>
          </a:prstGeom>
          <a:noFill/>
          <a:ln/>
        </p:spPr>
        <p:txBody>
          <a:bodyPr wrap="none" lIns="0" tIns="0" rIns="0" bIns="0" rtlCol="0" anchor="t"/>
          <a:lstStyle/>
          <a:p>
            <a:pPr marL="0" indent="0" algn="l">
              <a:lnSpc>
                <a:spcPts val="5450"/>
              </a:lnSpc>
              <a:buNone/>
            </a:pPr>
            <a:r>
              <a:rPr lang="en-US" sz="4350" dirty="0">
                <a:solidFill>
                  <a:srgbClr val="000000"/>
                </a:solidFill>
                <a:latin typeface="Source Serif Pro Semi Bold" pitchFamily="34" charset="0"/>
                <a:ea typeface="Source Serif Pro Semi Bold" pitchFamily="34" charset="-122"/>
                <a:cs typeface="Source Serif Pro Semi Bold" pitchFamily="34" charset="-120"/>
              </a:rPr>
              <a:t>Key System Components</a:t>
            </a:r>
            <a:endParaRPr lang="en-US" sz="4350" dirty="0"/>
          </a:p>
        </p:txBody>
      </p:sp>
      <p:sp>
        <p:nvSpPr>
          <p:cNvPr id="3" name="Text 1"/>
          <p:cNvSpPr/>
          <p:nvPr/>
        </p:nvSpPr>
        <p:spPr>
          <a:xfrm>
            <a:off x="825579" y="1815941"/>
            <a:ext cx="12979241" cy="754618"/>
          </a:xfrm>
          <a:prstGeom prst="rect">
            <a:avLst/>
          </a:prstGeom>
          <a:noFill/>
          <a:ln/>
        </p:spPr>
        <p:txBody>
          <a:bodyPr wrap="squar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We've carefully selected a suite of reliable components to ensure the accuracy and effectiveness of our safety monitoring system. Each component plays a vital role in data collection, processing, and response.</a:t>
            </a:r>
            <a:endParaRPr lang="en-US" sz="1850" dirty="0"/>
          </a:p>
        </p:txBody>
      </p:sp>
      <p:sp>
        <p:nvSpPr>
          <p:cNvPr id="4" name="Shape 2"/>
          <p:cNvSpPr/>
          <p:nvPr/>
        </p:nvSpPr>
        <p:spPr>
          <a:xfrm>
            <a:off x="825579" y="2835831"/>
            <a:ext cx="12979241" cy="4743331"/>
          </a:xfrm>
          <a:prstGeom prst="roundRect">
            <a:avLst>
              <a:gd name="adj" fmla="val 2089"/>
            </a:avLst>
          </a:prstGeom>
          <a:noFill/>
          <a:ln w="7620">
            <a:solidFill>
              <a:srgbClr val="000000">
                <a:alpha val="8000"/>
              </a:srgbClr>
            </a:solidFill>
            <a:prstDash val="solid"/>
          </a:ln>
        </p:spPr>
        <p:txBody>
          <a:bodyPr/>
          <a:lstStyle/>
          <a:p>
            <a:endParaRPr lang="en-US"/>
          </a:p>
        </p:txBody>
      </p:sp>
      <p:sp>
        <p:nvSpPr>
          <p:cNvPr id="5" name="Shape 3"/>
          <p:cNvSpPr/>
          <p:nvPr/>
        </p:nvSpPr>
        <p:spPr>
          <a:xfrm>
            <a:off x="833199" y="2843451"/>
            <a:ext cx="12964001" cy="675442"/>
          </a:xfrm>
          <a:prstGeom prst="rect">
            <a:avLst/>
          </a:prstGeom>
          <a:solidFill>
            <a:srgbClr val="FFFFFF">
              <a:alpha val="4000"/>
            </a:srgbClr>
          </a:solidFill>
          <a:ln/>
        </p:spPr>
        <p:txBody>
          <a:bodyPr/>
          <a:lstStyle/>
          <a:p>
            <a:endParaRPr lang="en-US"/>
          </a:p>
        </p:txBody>
      </p:sp>
      <p:sp>
        <p:nvSpPr>
          <p:cNvPr id="6" name="Text 4"/>
          <p:cNvSpPr/>
          <p:nvPr/>
        </p:nvSpPr>
        <p:spPr>
          <a:xfrm>
            <a:off x="1069181" y="2992517"/>
            <a:ext cx="3413641" cy="377309"/>
          </a:xfrm>
          <a:prstGeom prst="rect">
            <a:avLst/>
          </a:prstGeom>
          <a:noFill/>
          <a:ln/>
        </p:spPr>
        <p:txBody>
          <a:bodyPr wrap="none" lIns="0" tIns="0" rIns="0" bIns="0" rtlCol="0" anchor="t"/>
          <a:lstStyle/>
          <a:p>
            <a:pPr marL="0" indent="0" algn="l">
              <a:lnSpc>
                <a:spcPts val="2950"/>
              </a:lnSpc>
              <a:buNone/>
            </a:pPr>
            <a:r>
              <a:rPr lang="en-US" sz="1850" b="1" dirty="0">
                <a:solidFill>
                  <a:srgbClr val="272525"/>
                </a:solidFill>
                <a:latin typeface="Source Sans Pro" pitchFamily="34" charset="0"/>
                <a:ea typeface="Source Sans Pro" pitchFamily="34" charset="-122"/>
                <a:cs typeface="Source Sans Pro" pitchFamily="34" charset="-120"/>
              </a:rPr>
              <a:t>Component</a:t>
            </a:r>
            <a:endParaRPr lang="en-US" sz="1850" dirty="0"/>
          </a:p>
        </p:txBody>
      </p:sp>
      <p:sp>
        <p:nvSpPr>
          <p:cNvPr id="7" name="Text 5"/>
          <p:cNvSpPr/>
          <p:nvPr/>
        </p:nvSpPr>
        <p:spPr>
          <a:xfrm>
            <a:off x="4962168" y="2992517"/>
            <a:ext cx="8599170" cy="377309"/>
          </a:xfrm>
          <a:prstGeom prst="rect">
            <a:avLst/>
          </a:prstGeom>
          <a:noFill/>
          <a:ln/>
        </p:spPr>
        <p:txBody>
          <a:bodyPr wrap="none" lIns="0" tIns="0" rIns="0" bIns="0" rtlCol="0" anchor="t"/>
          <a:lstStyle/>
          <a:p>
            <a:pPr marL="0" indent="0" algn="l">
              <a:lnSpc>
                <a:spcPts val="2950"/>
              </a:lnSpc>
              <a:buNone/>
            </a:pPr>
            <a:r>
              <a:rPr lang="en-US" sz="1850" b="1" dirty="0">
                <a:solidFill>
                  <a:srgbClr val="272525"/>
                </a:solidFill>
                <a:latin typeface="Source Sans Pro" pitchFamily="34" charset="0"/>
                <a:ea typeface="Source Sans Pro" pitchFamily="34" charset="-122"/>
                <a:cs typeface="Source Sans Pro" pitchFamily="34" charset="-120"/>
              </a:rPr>
              <a:t>Purpose</a:t>
            </a:r>
            <a:endParaRPr lang="en-US" sz="1850" dirty="0"/>
          </a:p>
        </p:txBody>
      </p:sp>
      <p:sp>
        <p:nvSpPr>
          <p:cNvPr id="8" name="Shape 6"/>
          <p:cNvSpPr/>
          <p:nvPr/>
        </p:nvSpPr>
        <p:spPr>
          <a:xfrm>
            <a:off x="833199" y="3518892"/>
            <a:ext cx="12964001" cy="675442"/>
          </a:xfrm>
          <a:prstGeom prst="rect">
            <a:avLst/>
          </a:prstGeom>
          <a:solidFill>
            <a:srgbClr val="000000">
              <a:alpha val="4000"/>
            </a:srgbClr>
          </a:solidFill>
          <a:ln/>
        </p:spPr>
        <p:txBody>
          <a:bodyPr/>
          <a:lstStyle/>
          <a:p>
            <a:endParaRPr lang="en-US"/>
          </a:p>
        </p:txBody>
      </p:sp>
      <p:sp>
        <p:nvSpPr>
          <p:cNvPr id="9" name="Text 7"/>
          <p:cNvSpPr/>
          <p:nvPr/>
        </p:nvSpPr>
        <p:spPr>
          <a:xfrm>
            <a:off x="1069181" y="3667958"/>
            <a:ext cx="3413641"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DHT11</a:t>
            </a:r>
            <a:endParaRPr lang="en-US" sz="1850" dirty="0"/>
          </a:p>
        </p:txBody>
      </p:sp>
      <p:sp>
        <p:nvSpPr>
          <p:cNvPr id="10" name="Text 8"/>
          <p:cNvSpPr/>
          <p:nvPr/>
        </p:nvSpPr>
        <p:spPr>
          <a:xfrm>
            <a:off x="4962168" y="3667958"/>
            <a:ext cx="8599170"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Monitors ambient temperature and humidity levels.</a:t>
            </a:r>
            <a:endParaRPr lang="en-US" sz="1850" dirty="0"/>
          </a:p>
        </p:txBody>
      </p:sp>
      <p:sp>
        <p:nvSpPr>
          <p:cNvPr id="11" name="Shape 9"/>
          <p:cNvSpPr/>
          <p:nvPr/>
        </p:nvSpPr>
        <p:spPr>
          <a:xfrm>
            <a:off x="833199" y="4194334"/>
            <a:ext cx="12964001" cy="675442"/>
          </a:xfrm>
          <a:prstGeom prst="rect">
            <a:avLst/>
          </a:prstGeom>
          <a:solidFill>
            <a:srgbClr val="FFFFFF">
              <a:alpha val="4000"/>
            </a:srgbClr>
          </a:solidFill>
          <a:ln/>
        </p:spPr>
        <p:txBody>
          <a:bodyPr/>
          <a:lstStyle/>
          <a:p>
            <a:endParaRPr lang="en-US"/>
          </a:p>
        </p:txBody>
      </p:sp>
      <p:sp>
        <p:nvSpPr>
          <p:cNvPr id="12" name="Text 10"/>
          <p:cNvSpPr/>
          <p:nvPr/>
        </p:nvSpPr>
        <p:spPr>
          <a:xfrm>
            <a:off x="1069181" y="4343400"/>
            <a:ext cx="3413641"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PIR &amp; HC-SR501</a:t>
            </a:r>
            <a:endParaRPr lang="en-US" sz="1850" dirty="0"/>
          </a:p>
        </p:txBody>
      </p:sp>
      <p:sp>
        <p:nvSpPr>
          <p:cNvPr id="13" name="Text 11"/>
          <p:cNvSpPr/>
          <p:nvPr/>
        </p:nvSpPr>
        <p:spPr>
          <a:xfrm>
            <a:off x="4962168" y="4343400"/>
            <a:ext cx="8599170"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Detects human presence and motion in restricted areas.</a:t>
            </a:r>
            <a:endParaRPr lang="en-US" sz="1850" dirty="0"/>
          </a:p>
        </p:txBody>
      </p:sp>
      <p:sp>
        <p:nvSpPr>
          <p:cNvPr id="14" name="Shape 12"/>
          <p:cNvSpPr/>
          <p:nvPr/>
        </p:nvSpPr>
        <p:spPr>
          <a:xfrm>
            <a:off x="833199" y="4869775"/>
            <a:ext cx="12964001" cy="675442"/>
          </a:xfrm>
          <a:prstGeom prst="rect">
            <a:avLst/>
          </a:prstGeom>
          <a:solidFill>
            <a:srgbClr val="000000">
              <a:alpha val="4000"/>
            </a:srgbClr>
          </a:solidFill>
          <a:ln/>
        </p:spPr>
        <p:txBody>
          <a:bodyPr/>
          <a:lstStyle/>
          <a:p>
            <a:endParaRPr lang="en-US"/>
          </a:p>
        </p:txBody>
      </p:sp>
      <p:sp>
        <p:nvSpPr>
          <p:cNvPr id="15" name="Text 13"/>
          <p:cNvSpPr/>
          <p:nvPr/>
        </p:nvSpPr>
        <p:spPr>
          <a:xfrm>
            <a:off x="1069181" y="5018842"/>
            <a:ext cx="3413641"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HW-072</a:t>
            </a:r>
            <a:endParaRPr lang="en-US" sz="1850" dirty="0"/>
          </a:p>
        </p:txBody>
      </p:sp>
      <p:sp>
        <p:nvSpPr>
          <p:cNvPr id="16" name="Text 14"/>
          <p:cNvSpPr/>
          <p:nvPr/>
        </p:nvSpPr>
        <p:spPr>
          <a:xfrm>
            <a:off x="4962168" y="5018842"/>
            <a:ext cx="8599170"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Measures vibration for machinery fault detection.</a:t>
            </a:r>
            <a:endParaRPr lang="en-US" sz="1850" dirty="0"/>
          </a:p>
        </p:txBody>
      </p:sp>
      <p:sp>
        <p:nvSpPr>
          <p:cNvPr id="17" name="Shape 15"/>
          <p:cNvSpPr/>
          <p:nvPr/>
        </p:nvSpPr>
        <p:spPr>
          <a:xfrm>
            <a:off x="833199" y="5545217"/>
            <a:ext cx="12964001" cy="675442"/>
          </a:xfrm>
          <a:prstGeom prst="rect">
            <a:avLst/>
          </a:prstGeom>
          <a:solidFill>
            <a:srgbClr val="FFFFFF">
              <a:alpha val="4000"/>
            </a:srgbClr>
          </a:solidFill>
          <a:ln/>
        </p:spPr>
        <p:txBody>
          <a:bodyPr/>
          <a:lstStyle/>
          <a:p>
            <a:endParaRPr lang="en-US"/>
          </a:p>
        </p:txBody>
      </p:sp>
      <p:sp>
        <p:nvSpPr>
          <p:cNvPr id="18" name="Text 16"/>
          <p:cNvSpPr/>
          <p:nvPr/>
        </p:nvSpPr>
        <p:spPr>
          <a:xfrm>
            <a:off x="1069181" y="5694283"/>
            <a:ext cx="3413641"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TB6612FNG</a:t>
            </a:r>
            <a:endParaRPr lang="en-US" sz="1850" dirty="0"/>
          </a:p>
        </p:txBody>
      </p:sp>
      <p:sp>
        <p:nvSpPr>
          <p:cNvPr id="19" name="Text 17"/>
          <p:cNvSpPr/>
          <p:nvPr/>
        </p:nvSpPr>
        <p:spPr>
          <a:xfrm>
            <a:off x="4962168" y="5694283"/>
            <a:ext cx="8599170"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Drives and controls the machinery motors.</a:t>
            </a:r>
            <a:endParaRPr lang="en-US" sz="1850" dirty="0"/>
          </a:p>
        </p:txBody>
      </p:sp>
      <p:sp>
        <p:nvSpPr>
          <p:cNvPr id="20" name="Shape 18"/>
          <p:cNvSpPr/>
          <p:nvPr/>
        </p:nvSpPr>
        <p:spPr>
          <a:xfrm>
            <a:off x="833199" y="6220658"/>
            <a:ext cx="12964001" cy="675442"/>
          </a:xfrm>
          <a:prstGeom prst="rect">
            <a:avLst/>
          </a:prstGeom>
          <a:solidFill>
            <a:srgbClr val="000000">
              <a:alpha val="4000"/>
            </a:srgbClr>
          </a:solidFill>
          <a:ln/>
        </p:spPr>
        <p:txBody>
          <a:bodyPr/>
          <a:lstStyle/>
          <a:p>
            <a:endParaRPr lang="en-US"/>
          </a:p>
        </p:txBody>
      </p:sp>
      <p:sp>
        <p:nvSpPr>
          <p:cNvPr id="21" name="Text 19"/>
          <p:cNvSpPr/>
          <p:nvPr/>
        </p:nvSpPr>
        <p:spPr>
          <a:xfrm>
            <a:off x="1069181" y="6369725"/>
            <a:ext cx="3413641"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Buzzer &amp; LEDs</a:t>
            </a:r>
            <a:endParaRPr lang="en-US" sz="1850" dirty="0"/>
          </a:p>
        </p:txBody>
      </p:sp>
      <p:sp>
        <p:nvSpPr>
          <p:cNvPr id="22" name="Text 20"/>
          <p:cNvSpPr/>
          <p:nvPr/>
        </p:nvSpPr>
        <p:spPr>
          <a:xfrm>
            <a:off x="4962168" y="6369725"/>
            <a:ext cx="8599170"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Provides audible and visual alerts for safety incidents.</a:t>
            </a:r>
            <a:endParaRPr lang="en-US" sz="1850" dirty="0"/>
          </a:p>
        </p:txBody>
      </p:sp>
      <p:sp>
        <p:nvSpPr>
          <p:cNvPr id="23" name="Shape 21"/>
          <p:cNvSpPr/>
          <p:nvPr/>
        </p:nvSpPr>
        <p:spPr>
          <a:xfrm>
            <a:off x="833199" y="6896100"/>
            <a:ext cx="12964001" cy="675442"/>
          </a:xfrm>
          <a:prstGeom prst="rect">
            <a:avLst/>
          </a:prstGeom>
          <a:solidFill>
            <a:srgbClr val="FFFFFF">
              <a:alpha val="4000"/>
            </a:srgbClr>
          </a:solidFill>
          <a:ln/>
        </p:spPr>
        <p:txBody>
          <a:bodyPr/>
          <a:lstStyle/>
          <a:p>
            <a:endParaRPr lang="en-US"/>
          </a:p>
        </p:txBody>
      </p:sp>
      <p:sp>
        <p:nvSpPr>
          <p:cNvPr id="24" name="Text 22"/>
          <p:cNvSpPr/>
          <p:nvPr/>
        </p:nvSpPr>
        <p:spPr>
          <a:xfrm>
            <a:off x="1069181" y="7045166"/>
            <a:ext cx="3413641"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STM32 MCU</a:t>
            </a:r>
            <a:endParaRPr lang="en-US" sz="1850" dirty="0"/>
          </a:p>
        </p:txBody>
      </p:sp>
      <p:sp>
        <p:nvSpPr>
          <p:cNvPr id="25" name="Text 23"/>
          <p:cNvSpPr/>
          <p:nvPr/>
        </p:nvSpPr>
        <p:spPr>
          <a:xfrm>
            <a:off x="4962168" y="7045166"/>
            <a:ext cx="8599170" cy="377309"/>
          </a:xfrm>
          <a:prstGeom prst="rect">
            <a:avLst/>
          </a:prstGeom>
          <a:noFill/>
          <a:ln/>
        </p:spPr>
        <p:txBody>
          <a:bodyPr wrap="non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Central processing unit for data analysis and control logic.</a:t>
            </a:r>
            <a:endParaRPr lang="en-US" sz="1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63548" y="599956"/>
            <a:ext cx="5133380" cy="641747"/>
          </a:xfrm>
          <a:prstGeom prst="rect">
            <a:avLst/>
          </a:prstGeom>
          <a:noFill/>
          <a:ln/>
        </p:spPr>
        <p:txBody>
          <a:bodyPr wrap="none" lIns="0" tIns="0" rIns="0" bIns="0" rtlCol="0" anchor="t"/>
          <a:lstStyle/>
          <a:p>
            <a:pPr marL="0" indent="0" algn="l">
              <a:lnSpc>
                <a:spcPts val="5050"/>
              </a:lnSpc>
              <a:buNone/>
            </a:pPr>
            <a:r>
              <a:rPr lang="en-US" sz="4000" dirty="0">
                <a:solidFill>
                  <a:srgbClr val="000000"/>
                </a:solidFill>
                <a:latin typeface="Source Serif Pro Semi Bold" pitchFamily="34" charset="0"/>
                <a:ea typeface="Source Serif Pro Semi Bold" pitchFamily="34" charset="-122"/>
                <a:cs typeface="Source Serif Pro Semi Bold" pitchFamily="34" charset="-120"/>
              </a:rPr>
              <a:t>Pin Mapping Details</a:t>
            </a:r>
            <a:endParaRPr lang="en-US" sz="4000" dirty="0"/>
          </a:p>
        </p:txBody>
      </p:sp>
      <p:sp>
        <p:nvSpPr>
          <p:cNvPr id="3" name="Text 1"/>
          <p:cNvSpPr/>
          <p:nvPr/>
        </p:nvSpPr>
        <p:spPr>
          <a:xfrm>
            <a:off x="763548" y="1677948"/>
            <a:ext cx="13103304" cy="697944"/>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Precise pin mapping is crucial for seamless communication between the STM32 microcontroller and all connected components. The following table outlines the specific pin assignments for each hardware element.</a:t>
            </a:r>
            <a:endParaRPr lang="en-US" sz="1700" dirty="0"/>
          </a:p>
        </p:txBody>
      </p:sp>
      <p:sp>
        <p:nvSpPr>
          <p:cNvPr id="4" name="Shape 2"/>
          <p:cNvSpPr/>
          <p:nvPr/>
        </p:nvSpPr>
        <p:spPr>
          <a:xfrm>
            <a:off x="763548" y="2621280"/>
            <a:ext cx="13103304" cy="5022533"/>
          </a:xfrm>
          <a:prstGeom prst="roundRect">
            <a:avLst>
              <a:gd name="adj" fmla="val 1824"/>
            </a:avLst>
          </a:prstGeom>
          <a:noFill/>
          <a:ln w="7620">
            <a:solidFill>
              <a:srgbClr val="000000">
                <a:alpha val="8000"/>
              </a:srgbClr>
            </a:solidFill>
            <a:prstDash val="solid"/>
          </a:ln>
        </p:spPr>
        <p:txBody>
          <a:bodyPr/>
          <a:lstStyle/>
          <a:p>
            <a:endParaRPr lang="en-US"/>
          </a:p>
        </p:txBody>
      </p:sp>
      <p:sp>
        <p:nvSpPr>
          <p:cNvPr id="5" name="Shape 3"/>
          <p:cNvSpPr/>
          <p:nvPr/>
        </p:nvSpPr>
        <p:spPr>
          <a:xfrm>
            <a:off x="771168" y="2628900"/>
            <a:ext cx="13088064" cy="625912"/>
          </a:xfrm>
          <a:prstGeom prst="rect">
            <a:avLst/>
          </a:prstGeom>
          <a:solidFill>
            <a:srgbClr val="FFFFFF">
              <a:alpha val="4000"/>
            </a:srgbClr>
          </a:solidFill>
          <a:ln/>
        </p:spPr>
        <p:txBody>
          <a:bodyPr/>
          <a:lstStyle/>
          <a:p>
            <a:endParaRPr lang="en-US"/>
          </a:p>
        </p:txBody>
      </p:sp>
      <p:sp>
        <p:nvSpPr>
          <p:cNvPr id="6" name="Text 4"/>
          <p:cNvSpPr/>
          <p:nvPr/>
        </p:nvSpPr>
        <p:spPr>
          <a:xfrm>
            <a:off x="989409" y="2767370"/>
            <a:ext cx="3486269" cy="348972"/>
          </a:xfrm>
          <a:prstGeom prst="rect">
            <a:avLst/>
          </a:prstGeom>
          <a:noFill/>
          <a:ln/>
        </p:spPr>
        <p:txBody>
          <a:bodyPr wrap="none" lIns="0" tIns="0" rIns="0" bIns="0" rtlCol="0" anchor="t"/>
          <a:lstStyle/>
          <a:p>
            <a:pPr marL="0" indent="0" algn="l">
              <a:lnSpc>
                <a:spcPts val="2700"/>
              </a:lnSpc>
              <a:buNone/>
            </a:pPr>
            <a:r>
              <a:rPr lang="en-US" sz="1700" b="1" dirty="0">
                <a:solidFill>
                  <a:srgbClr val="272525"/>
                </a:solidFill>
                <a:latin typeface="Source Sans Pro" pitchFamily="34" charset="0"/>
                <a:ea typeface="Source Sans Pro" pitchFamily="34" charset="-122"/>
                <a:cs typeface="Source Sans Pro" pitchFamily="34" charset="-120"/>
              </a:rPr>
              <a:t>Component</a:t>
            </a:r>
            <a:endParaRPr lang="en-US" sz="1700" dirty="0"/>
          </a:p>
        </p:txBody>
      </p:sp>
      <p:sp>
        <p:nvSpPr>
          <p:cNvPr id="7" name="Text 5"/>
          <p:cNvSpPr/>
          <p:nvPr/>
        </p:nvSpPr>
        <p:spPr>
          <a:xfrm>
            <a:off x="4919543" y="2767370"/>
            <a:ext cx="4136946" cy="348972"/>
          </a:xfrm>
          <a:prstGeom prst="rect">
            <a:avLst/>
          </a:prstGeom>
          <a:noFill/>
          <a:ln/>
        </p:spPr>
        <p:txBody>
          <a:bodyPr wrap="none" lIns="0" tIns="0" rIns="0" bIns="0" rtlCol="0" anchor="t"/>
          <a:lstStyle/>
          <a:p>
            <a:pPr marL="0" indent="0" algn="l">
              <a:lnSpc>
                <a:spcPts val="2700"/>
              </a:lnSpc>
              <a:buNone/>
            </a:pPr>
            <a:r>
              <a:rPr lang="en-US" sz="1700" b="1" dirty="0">
                <a:solidFill>
                  <a:srgbClr val="272525"/>
                </a:solidFill>
                <a:latin typeface="Source Sans Pro" pitchFamily="34" charset="0"/>
                <a:ea typeface="Source Sans Pro" pitchFamily="34" charset="-122"/>
                <a:cs typeface="Source Sans Pro" pitchFamily="34" charset="-120"/>
              </a:rPr>
              <a:t>Pin</a:t>
            </a:r>
            <a:endParaRPr lang="en-US" sz="1700" dirty="0"/>
          </a:p>
        </p:txBody>
      </p:sp>
      <p:sp>
        <p:nvSpPr>
          <p:cNvPr id="8" name="Text 6"/>
          <p:cNvSpPr/>
          <p:nvPr/>
        </p:nvSpPr>
        <p:spPr>
          <a:xfrm>
            <a:off x="9500354" y="2767370"/>
            <a:ext cx="4140756" cy="348972"/>
          </a:xfrm>
          <a:prstGeom prst="rect">
            <a:avLst/>
          </a:prstGeom>
          <a:noFill/>
          <a:ln/>
        </p:spPr>
        <p:txBody>
          <a:bodyPr wrap="none" lIns="0" tIns="0" rIns="0" bIns="0" rtlCol="0" anchor="t"/>
          <a:lstStyle/>
          <a:p>
            <a:pPr marL="0" indent="0" algn="l">
              <a:lnSpc>
                <a:spcPts val="2700"/>
              </a:lnSpc>
              <a:buNone/>
            </a:pPr>
            <a:r>
              <a:rPr lang="en-US" sz="1700" b="1" dirty="0">
                <a:solidFill>
                  <a:srgbClr val="272525"/>
                </a:solidFill>
                <a:latin typeface="Source Sans Pro" pitchFamily="34" charset="0"/>
                <a:ea typeface="Source Sans Pro" pitchFamily="34" charset="-122"/>
                <a:cs typeface="Source Sans Pro" pitchFamily="34" charset="-120"/>
              </a:rPr>
              <a:t>MCU Pin</a:t>
            </a:r>
            <a:endParaRPr lang="en-US" sz="1700" dirty="0"/>
          </a:p>
        </p:txBody>
      </p:sp>
      <p:sp>
        <p:nvSpPr>
          <p:cNvPr id="9" name="Shape 7"/>
          <p:cNvSpPr/>
          <p:nvPr/>
        </p:nvSpPr>
        <p:spPr>
          <a:xfrm>
            <a:off x="771168" y="3254812"/>
            <a:ext cx="13088064" cy="625912"/>
          </a:xfrm>
          <a:prstGeom prst="rect">
            <a:avLst/>
          </a:prstGeom>
          <a:solidFill>
            <a:srgbClr val="000000">
              <a:alpha val="4000"/>
            </a:srgbClr>
          </a:solidFill>
          <a:ln/>
        </p:spPr>
        <p:txBody>
          <a:bodyPr/>
          <a:lstStyle/>
          <a:p>
            <a:endParaRPr lang="en-US"/>
          </a:p>
        </p:txBody>
      </p:sp>
      <p:sp>
        <p:nvSpPr>
          <p:cNvPr id="10" name="Text 8"/>
          <p:cNvSpPr/>
          <p:nvPr/>
        </p:nvSpPr>
        <p:spPr>
          <a:xfrm>
            <a:off x="989409" y="3393281"/>
            <a:ext cx="3486269"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LCD D0–D7 Data</a:t>
            </a:r>
            <a:endParaRPr lang="en-US" sz="1700" dirty="0"/>
          </a:p>
        </p:txBody>
      </p:sp>
      <p:sp>
        <p:nvSpPr>
          <p:cNvPr id="11" name="Text 9"/>
          <p:cNvSpPr/>
          <p:nvPr/>
        </p:nvSpPr>
        <p:spPr>
          <a:xfrm>
            <a:off x="4919543" y="3393281"/>
            <a:ext cx="413694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Data Lines</a:t>
            </a:r>
            <a:endParaRPr lang="en-US" sz="1700" dirty="0"/>
          </a:p>
        </p:txBody>
      </p:sp>
      <p:sp>
        <p:nvSpPr>
          <p:cNvPr id="12" name="Text 10"/>
          <p:cNvSpPr/>
          <p:nvPr/>
        </p:nvSpPr>
        <p:spPr>
          <a:xfrm>
            <a:off x="9500354" y="3393281"/>
            <a:ext cx="414075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PC4…PB15</a:t>
            </a:r>
            <a:endParaRPr lang="en-US" sz="1700" dirty="0"/>
          </a:p>
        </p:txBody>
      </p:sp>
      <p:sp>
        <p:nvSpPr>
          <p:cNvPr id="13" name="Shape 11"/>
          <p:cNvSpPr/>
          <p:nvPr/>
        </p:nvSpPr>
        <p:spPr>
          <a:xfrm>
            <a:off x="771168" y="3880723"/>
            <a:ext cx="13088064" cy="625912"/>
          </a:xfrm>
          <a:prstGeom prst="rect">
            <a:avLst/>
          </a:prstGeom>
          <a:solidFill>
            <a:srgbClr val="FFFFFF">
              <a:alpha val="4000"/>
            </a:srgbClr>
          </a:solidFill>
          <a:ln/>
        </p:spPr>
        <p:txBody>
          <a:bodyPr/>
          <a:lstStyle/>
          <a:p>
            <a:endParaRPr lang="en-US"/>
          </a:p>
        </p:txBody>
      </p:sp>
      <p:sp>
        <p:nvSpPr>
          <p:cNvPr id="14" name="Text 12"/>
          <p:cNvSpPr/>
          <p:nvPr/>
        </p:nvSpPr>
        <p:spPr>
          <a:xfrm>
            <a:off x="989409" y="4019193"/>
            <a:ext cx="3486269"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DHT11</a:t>
            </a:r>
            <a:endParaRPr lang="en-US" sz="1700" dirty="0"/>
          </a:p>
        </p:txBody>
      </p:sp>
      <p:sp>
        <p:nvSpPr>
          <p:cNvPr id="15" name="Text 13"/>
          <p:cNvSpPr/>
          <p:nvPr/>
        </p:nvSpPr>
        <p:spPr>
          <a:xfrm>
            <a:off x="4919543" y="4019193"/>
            <a:ext cx="413694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Data</a:t>
            </a:r>
            <a:endParaRPr lang="en-US" sz="1700" dirty="0"/>
          </a:p>
        </p:txBody>
      </p:sp>
      <p:sp>
        <p:nvSpPr>
          <p:cNvPr id="16" name="Text 14"/>
          <p:cNvSpPr/>
          <p:nvPr/>
        </p:nvSpPr>
        <p:spPr>
          <a:xfrm>
            <a:off x="9500354" y="4019193"/>
            <a:ext cx="414075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PA2</a:t>
            </a:r>
            <a:endParaRPr lang="en-US" sz="1700" dirty="0"/>
          </a:p>
        </p:txBody>
      </p:sp>
      <p:sp>
        <p:nvSpPr>
          <p:cNvPr id="17" name="Shape 15"/>
          <p:cNvSpPr/>
          <p:nvPr/>
        </p:nvSpPr>
        <p:spPr>
          <a:xfrm>
            <a:off x="771168" y="4506635"/>
            <a:ext cx="13088064" cy="625912"/>
          </a:xfrm>
          <a:prstGeom prst="rect">
            <a:avLst/>
          </a:prstGeom>
          <a:solidFill>
            <a:srgbClr val="000000">
              <a:alpha val="4000"/>
            </a:srgbClr>
          </a:solidFill>
          <a:ln/>
        </p:spPr>
        <p:txBody>
          <a:bodyPr/>
          <a:lstStyle/>
          <a:p>
            <a:endParaRPr lang="en-US"/>
          </a:p>
        </p:txBody>
      </p:sp>
      <p:sp>
        <p:nvSpPr>
          <p:cNvPr id="18" name="Text 16"/>
          <p:cNvSpPr/>
          <p:nvPr/>
        </p:nvSpPr>
        <p:spPr>
          <a:xfrm>
            <a:off x="989409" y="4645104"/>
            <a:ext cx="3486269"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PIR</a:t>
            </a:r>
            <a:endParaRPr lang="en-US" sz="1700" dirty="0"/>
          </a:p>
        </p:txBody>
      </p:sp>
      <p:sp>
        <p:nvSpPr>
          <p:cNvPr id="19" name="Text 17"/>
          <p:cNvSpPr/>
          <p:nvPr/>
        </p:nvSpPr>
        <p:spPr>
          <a:xfrm>
            <a:off x="4919543" y="4645104"/>
            <a:ext cx="413694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Data</a:t>
            </a:r>
            <a:endParaRPr lang="en-US" sz="1700" dirty="0"/>
          </a:p>
        </p:txBody>
      </p:sp>
      <p:sp>
        <p:nvSpPr>
          <p:cNvPr id="20" name="Text 18"/>
          <p:cNvSpPr/>
          <p:nvPr/>
        </p:nvSpPr>
        <p:spPr>
          <a:xfrm>
            <a:off x="9500354" y="4645104"/>
            <a:ext cx="414075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PA4</a:t>
            </a:r>
            <a:endParaRPr lang="en-US" sz="1700" dirty="0"/>
          </a:p>
        </p:txBody>
      </p:sp>
      <p:sp>
        <p:nvSpPr>
          <p:cNvPr id="21" name="Shape 19"/>
          <p:cNvSpPr/>
          <p:nvPr/>
        </p:nvSpPr>
        <p:spPr>
          <a:xfrm>
            <a:off x="771168" y="5132546"/>
            <a:ext cx="13088064" cy="625912"/>
          </a:xfrm>
          <a:prstGeom prst="rect">
            <a:avLst/>
          </a:prstGeom>
          <a:solidFill>
            <a:srgbClr val="FFFFFF">
              <a:alpha val="4000"/>
            </a:srgbClr>
          </a:solidFill>
          <a:ln/>
        </p:spPr>
        <p:txBody>
          <a:bodyPr/>
          <a:lstStyle/>
          <a:p>
            <a:endParaRPr lang="en-US"/>
          </a:p>
        </p:txBody>
      </p:sp>
      <p:sp>
        <p:nvSpPr>
          <p:cNvPr id="22" name="Text 20"/>
          <p:cNvSpPr/>
          <p:nvPr/>
        </p:nvSpPr>
        <p:spPr>
          <a:xfrm>
            <a:off x="989409" y="5271016"/>
            <a:ext cx="3486269"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Vibration</a:t>
            </a:r>
            <a:endParaRPr lang="en-US" sz="1700" dirty="0"/>
          </a:p>
        </p:txBody>
      </p:sp>
      <p:sp>
        <p:nvSpPr>
          <p:cNvPr id="23" name="Text 21"/>
          <p:cNvSpPr/>
          <p:nvPr/>
        </p:nvSpPr>
        <p:spPr>
          <a:xfrm>
            <a:off x="4919543" y="5271016"/>
            <a:ext cx="413694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DO</a:t>
            </a:r>
            <a:endParaRPr lang="en-US" sz="1700" dirty="0"/>
          </a:p>
        </p:txBody>
      </p:sp>
      <p:sp>
        <p:nvSpPr>
          <p:cNvPr id="24" name="Text 22"/>
          <p:cNvSpPr/>
          <p:nvPr/>
        </p:nvSpPr>
        <p:spPr>
          <a:xfrm>
            <a:off x="9500354" y="5271016"/>
            <a:ext cx="414075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PA5</a:t>
            </a:r>
            <a:endParaRPr lang="en-US" sz="1700" dirty="0"/>
          </a:p>
        </p:txBody>
      </p:sp>
      <p:sp>
        <p:nvSpPr>
          <p:cNvPr id="25" name="Shape 23"/>
          <p:cNvSpPr/>
          <p:nvPr/>
        </p:nvSpPr>
        <p:spPr>
          <a:xfrm>
            <a:off x="771168" y="5758458"/>
            <a:ext cx="13088064" cy="625912"/>
          </a:xfrm>
          <a:prstGeom prst="rect">
            <a:avLst/>
          </a:prstGeom>
          <a:solidFill>
            <a:srgbClr val="000000">
              <a:alpha val="4000"/>
            </a:srgbClr>
          </a:solidFill>
          <a:ln/>
        </p:spPr>
        <p:txBody>
          <a:bodyPr/>
          <a:lstStyle/>
          <a:p>
            <a:endParaRPr lang="en-US"/>
          </a:p>
        </p:txBody>
      </p:sp>
      <p:sp>
        <p:nvSpPr>
          <p:cNvPr id="26" name="Text 24"/>
          <p:cNvSpPr/>
          <p:nvPr/>
        </p:nvSpPr>
        <p:spPr>
          <a:xfrm>
            <a:off x="989409" y="5896928"/>
            <a:ext cx="3486269"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Motor Driver</a:t>
            </a:r>
            <a:endParaRPr lang="en-US" sz="1700" dirty="0"/>
          </a:p>
        </p:txBody>
      </p:sp>
      <p:sp>
        <p:nvSpPr>
          <p:cNvPr id="27" name="Text 25"/>
          <p:cNvSpPr/>
          <p:nvPr/>
        </p:nvSpPr>
        <p:spPr>
          <a:xfrm>
            <a:off x="4919543" y="5896928"/>
            <a:ext cx="413694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AIN1, AIN2, PWMA, STBY</a:t>
            </a:r>
            <a:endParaRPr lang="en-US" sz="1700" dirty="0"/>
          </a:p>
        </p:txBody>
      </p:sp>
      <p:sp>
        <p:nvSpPr>
          <p:cNvPr id="28" name="Text 26"/>
          <p:cNvSpPr/>
          <p:nvPr/>
        </p:nvSpPr>
        <p:spPr>
          <a:xfrm>
            <a:off x="9500354" y="5896928"/>
            <a:ext cx="414075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PC0, PC1, PA6, PA3</a:t>
            </a:r>
            <a:endParaRPr lang="en-US" sz="1700" dirty="0"/>
          </a:p>
        </p:txBody>
      </p:sp>
      <p:sp>
        <p:nvSpPr>
          <p:cNvPr id="29" name="Shape 27"/>
          <p:cNvSpPr/>
          <p:nvPr/>
        </p:nvSpPr>
        <p:spPr>
          <a:xfrm>
            <a:off x="771168" y="6384369"/>
            <a:ext cx="13088064" cy="625912"/>
          </a:xfrm>
          <a:prstGeom prst="rect">
            <a:avLst/>
          </a:prstGeom>
          <a:solidFill>
            <a:srgbClr val="FFFFFF">
              <a:alpha val="4000"/>
            </a:srgbClr>
          </a:solidFill>
          <a:ln/>
        </p:spPr>
        <p:txBody>
          <a:bodyPr/>
          <a:lstStyle/>
          <a:p>
            <a:endParaRPr lang="en-US"/>
          </a:p>
        </p:txBody>
      </p:sp>
      <p:sp>
        <p:nvSpPr>
          <p:cNvPr id="30" name="Text 28"/>
          <p:cNvSpPr/>
          <p:nvPr/>
        </p:nvSpPr>
        <p:spPr>
          <a:xfrm>
            <a:off x="989409" y="6522839"/>
            <a:ext cx="3486269"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Buzzer</a:t>
            </a:r>
            <a:endParaRPr lang="en-US" sz="1700" dirty="0"/>
          </a:p>
        </p:txBody>
      </p:sp>
      <p:sp>
        <p:nvSpPr>
          <p:cNvPr id="31" name="Text 29"/>
          <p:cNvSpPr/>
          <p:nvPr/>
        </p:nvSpPr>
        <p:spPr>
          <a:xfrm>
            <a:off x="4919543" y="6522839"/>
            <a:ext cx="413694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Signal</a:t>
            </a:r>
            <a:endParaRPr lang="en-US" sz="1700" dirty="0"/>
          </a:p>
        </p:txBody>
      </p:sp>
      <p:sp>
        <p:nvSpPr>
          <p:cNvPr id="32" name="Text 30"/>
          <p:cNvSpPr/>
          <p:nvPr/>
        </p:nvSpPr>
        <p:spPr>
          <a:xfrm>
            <a:off x="9500354" y="6522839"/>
            <a:ext cx="414075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PC9</a:t>
            </a:r>
            <a:endParaRPr lang="en-US" sz="1700" dirty="0"/>
          </a:p>
        </p:txBody>
      </p:sp>
      <p:sp>
        <p:nvSpPr>
          <p:cNvPr id="33" name="Shape 31"/>
          <p:cNvSpPr/>
          <p:nvPr/>
        </p:nvSpPr>
        <p:spPr>
          <a:xfrm>
            <a:off x="771168" y="7010281"/>
            <a:ext cx="13088064" cy="625912"/>
          </a:xfrm>
          <a:prstGeom prst="rect">
            <a:avLst/>
          </a:prstGeom>
          <a:solidFill>
            <a:srgbClr val="000000">
              <a:alpha val="4000"/>
            </a:srgbClr>
          </a:solidFill>
          <a:ln/>
        </p:spPr>
        <p:txBody>
          <a:bodyPr/>
          <a:lstStyle/>
          <a:p>
            <a:endParaRPr lang="en-US"/>
          </a:p>
        </p:txBody>
      </p:sp>
      <p:sp>
        <p:nvSpPr>
          <p:cNvPr id="34" name="Text 32"/>
          <p:cNvSpPr/>
          <p:nvPr/>
        </p:nvSpPr>
        <p:spPr>
          <a:xfrm>
            <a:off x="989409" y="7148751"/>
            <a:ext cx="3486269"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LED</a:t>
            </a:r>
            <a:endParaRPr lang="en-US" sz="1700" dirty="0"/>
          </a:p>
        </p:txBody>
      </p:sp>
      <p:sp>
        <p:nvSpPr>
          <p:cNvPr id="35" name="Text 33"/>
          <p:cNvSpPr/>
          <p:nvPr/>
        </p:nvSpPr>
        <p:spPr>
          <a:xfrm>
            <a:off x="4919543" y="7148751"/>
            <a:ext cx="413694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Signal</a:t>
            </a:r>
            <a:endParaRPr lang="en-US" sz="1700" dirty="0"/>
          </a:p>
        </p:txBody>
      </p:sp>
      <p:sp>
        <p:nvSpPr>
          <p:cNvPr id="36" name="Text 34"/>
          <p:cNvSpPr/>
          <p:nvPr/>
        </p:nvSpPr>
        <p:spPr>
          <a:xfrm>
            <a:off x="9500354" y="7148751"/>
            <a:ext cx="4140756" cy="348972"/>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PC6</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37724" y="1315879"/>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Software Architecture</a:t>
            </a:r>
            <a:endParaRPr lang="en-US" sz="4400" dirty="0"/>
          </a:p>
        </p:txBody>
      </p:sp>
      <p:sp>
        <p:nvSpPr>
          <p:cNvPr id="3" name="Text 1"/>
          <p:cNvSpPr/>
          <p:nvPr/>
        </p:nvSpPr>
        <p:spPr>
          <a:xfrm>
            <a:off x="837724" y="2498646"/>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Our software architecture is designed for modularity, robustness, and responsiveness. It leverages a threshold-based logic system to ensure immediate and appropriate reactions to potential safety hazards.</a:t>
            </a:r>
            <a:endParaRPr lang="en-US" sz="1850" dirty="0"/>
          </a:p>
        </p:txBody>
      </p:sp>
      <p:sp>
        <p:nvSpPr>
          <p:cNvPr id="4" name="Text 2"/>
          <p:cNvSpPr/>
          <p:nvPr/>
        </p:nvSpPr>
        <p:spPr>
          <a:xfrm>
            <a:off x="837724" y="377321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Modular Design</a:t>
            </a:r>
            <a:endParaRPr lang="en-US" sz="2200" dirty="0"/>
          </a:p>
        </p:txBody>
      </p:sp>
      <p:sp>
        <p:nvSpPr>
          <p:cNvPr id="5" name="Text 3"/>
          <p:cNvSpPr/>
          <p:nvPr/>
        </p:nvSpPr>
        <p:spPr>
          <a:xfrm>
            <a:off x="837724" y="4364474"/>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Sensor Drivers:</a:t>
            </a:r>
            <a:r>
              <a:rPr lang="en-US" sz="1850" dirty="0">
                <a:solidFill>
                  <a:srgbClr val="272525"/>
                </a:solidFill>
                <a:latin typeface="Source Sans Pro" pitchFamily="34" charset="0"/>
                <a:ea typeface="Source Sans Pro" pitchFamily="34" charset="-122"/>
                <a:cs typeface="Source Sans Pro" pitchFamily="34" charset="-120"/>
              </a:rPr>
              <a:t> Dedicated modules for accurate data acquisition from each sensor type.</a:t>
            </a:r>
            <a:endParaRPr lang="en-US" sz="1850" dirty="0"/>
          </a:p>
        </p:txBody>
      </p:sp>
      <p:sp>
        <p:nvSpPr>
          <p:cNvPr id="6" name="Text 4"/>
          <p:cNvSpPr/>
          <p:nvPr/>
        </p:nvSpPr>
        <p:spPr>
          <a:xfrm>
            <a:off x="837724" y="5214223"/>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Decision Logic:</a:t>
            </a:r>
            <a:r>
              <a:rPr lang="en-US" sz="1850" dirty="0">
                <a:solidFill>
                  <a:srgbClr val="272525"/>
                </a:solidFill>
                <a:latin typeface="Source Sans Pro" pitchFamily="34" charset="0"/>
                <a:ea typeface="Source Sans Pro" pitchFamily="34" charset="-122"/>
                <a:cs typeface="Source Sans Pro" pitchFamily="34" charset="-120"/>
              </a:rPr>
              <a:t> Core processing unit that interprets sensor data against safety parameters.</a:t>
            </a:r>
            <a:endParaRPr lang="en-US" sz="1850" dirty="0"/>
          </a:p>
        </p:txBody>
      </p:sp>
      <p:sp>
        <p:nvSpPr>
          <p:cNvPr id="7" name="Text 5"/>
          <p:cNvSpPr/>
          <p:nvPr/>
        </p:nvSpPr>
        <p:spPr>
          <a:xfrm>
            <a:off x="837724" y="6063972"/>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Actuator Control:</a:t>
            </a:r>
            <a:r>
              <a:rPr lang="en-US" sz="1850" dirty="0">
                <a:solidFill>
                  <a:srgbClr val="272525"/>
                </a:solidFill>
                <a:latin typeface="Source Sans Pro" pitchFamily="34" charset="0"/>
                <a:ea typeface="Source Sans Pro" pitchFamily="34" charset="-122"/>
                <a:cs typeface="Source Sans Pro" pitchFamily="34" charset="-120"/>
              </a:rPr>
              <a:t> Manages machinery shutdown and activates alert systems.</a:t>
            </a:r>
            <a:endParaRPr lang="en-US" sz="1850" dirty="0"/>
          </a:p>
        </p:txBody>
      </p:sp>
      <p:sp>
        <p:nvSpPr>
          <p:cNvPr id="8" name="Text 6"/>
          <p:cNvSpPr/>
          <p:nvPr/>
        </p:nvSpPr>
        <p:spPr>
          <a:xfrm>
            <a:off x="7614761" y="3773210"/>
            <a:ext cx="2921079"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Threshold-Based Logic</a:t>
            </a:r>
            <a:endParaRPr lang="en-US" sz="2200" dirty="0"/>
          </a:p>
        </p:txBody>
      </p:sp>
      <p:sp>
        <p:nvSpPr>
          <p:cNvPr id="9" name="Text 7"/>
          <p:cNvSpPr/>
          <p:nvPr/>
        </p:nvSpPr>
        <p:spPr>
          <a:xfrm>
            <a:off x="7614761" y="4364474"/>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Temperature:</a:t>
            </a:r>
            <a:r>
              <a:rPr lang="en-US" sz="1850" dirty="0">
                <a:solidFill>
                  <a:srgbClr val="272525"/>
                </a:solidFill>
                <a:latin typeface="Source Sans Pro" pitchFamily="34" charset="0"/>
                <a:ea typeface="Source Sans Pro" pitchFamily="34" charset="-122"/>
                <a:cs typeface="Source Sans Pro" pitchFamily="34" charset="-120"/>
              </a:rPr>
              <a:t> Motor stop &amp; alert if </a:t>
            </a:r>
            <a:r>
              <a:rPr lang="en-US" sz="1850" b="1" dirty="0">
                <a:solidFill>
                  <a:srgbClr val="272525"/>
                </a:solidFill>
                <a:latin typeface="Source Sans Pro" pitchFamily="34" charset="0"/>
                <a:ea typeface="Source Sans Pro" pitchFamily="34" charset="-122"/>
                <a:cs typeface="Source Sans Pro" pitchFamily="34" charset="-120"/>
              </a:rPr>
              <a:t>Temp ≥27°C</a:t>
            </a:r>
            <a:r>
              <a:rPr lang="en-US" sz="1850" dirty="0">
                <a:solidFill>
                  <a:srgbClr val="272525"/>
                </a:solidFill>
                <a:latin typeface="Source Sans Pro" pitchFamily="34" charset="0"/>
                <a:ea typeface="Source Sans Pro" pitchFamily="34" charset="-122"/>
                <a:cs typeface="Source Sans Pro" pitchFamily="34" charset="-120"/>
              </a:rPr>
              <a:t>.</a:t>
            </a:r>
            <a:endParaRPr lang="en-US" sz="1850" dirty="0"/>
          </a:p>
        </p:txBody>
      </p:sp>
      <p:sp>
        <p:nvSpPr>
          <p:cNvPr id="10" name="Text 8"/>
          <p:cNvSpPr/>
          <p:nvPr/>
        </p:nvSpPr>
        <p:spPr>
          <a:xfrm>
            <a:off x="7614761" y="4831199"/>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Humidity:</a:t>
            </a:r>
            <a:r>
              <a:rPr lang="en-US" sz="1850" dirty="0">
                <a:solidFill>
                  <a:srgbClr val="272525"/>
                </a:solidFill>
                <a:latin typeface="Source Sans Pro" pitchFamily="34" charset="0"/>
                <a:ea typeface="Source Sans Pro" pitchFamily="34" charset="-122"/>
                <a:cs typeface="Source Sans Pro" pitchFamily="34" charset="-120"/>
              </a:rPr>
              <a:t> Alert only if </a:t>
            </a:r>
            <a:r>
              <a:rPr lang="en-US" sz="1850" b="1" dirty="0">
                <a:solidFill>
                  <a:srgbClr val="272525"/>
                </a:solidFill>
                <a:latin typeface="Source Sans Pro" pitchFamily="34" charset="0"/>
                <a:ea typeface="Source Sans Pro" pitchFamily="34" charset="-122"/>
                <a:cs typeface="Source Sans Pro" pitchFamily="34" charset="-120"/>
              </a:rPr>
              <a:t>Humidity ≥73%</a:t>
            </a:r>
            <a:r>
              <a:rPr lang="en-US" sz="1850" dirty="0">
                <a:solidFill>
                  <a:srgbClr val="272525"/>
                </a:solidFill>
                <a:latin typeface="Source Sans Pro" pitchFamily="34" charset="0"/>
                <a:ea typeface="Source Sans Pro" pitchFamily="34" charset="-122"/>
                <a:cs typeface="Source Sans Pro" pitchFamily="34" charset="-120"/>
              </a:rPr>
              <a:t>.</a:t>
            </a:r>
            <a:endParaRPr lang="en-US" sz="1850" dirty="0"/>
          </a:p>
        </p:txBody>
      </p:sp>
      <p:sp>
        <p:nvSpPr>
          <p:cNvPr id="11" name="Text 9"/>
          <p:cNvSpPr/>
          <p:nvPr/>
        </p:nvSpPr>
        <p:spPr>
          <a:xfrm>
            <a:off x="7614761" y="5297924"/>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Proximity &amp; Motion:</a:t>
            </a:r>
            <a:r>
              <a:rPr lang="en-US" sz="1850" dirty="0">
                <a:solidFill>
                  <a:srgbClr val="272525"/>
                </a:solidFill>
                <a:latin typeface="Source Sans Pro" pitchFamily="34" charset="0"/>
                <a:ea typeface="Source Sans Pro" pitchFamily="34" charset="-122"/>
                <a:cs typeface="Source Sans Pro" pitchFamily="34" charset="-120"/>
              </a:rPr>
              <a:t> Motor stop &amp; alert for </a:t>
            </a:r>
            <a:r>
              <a:rPr lang="en-US" sz="1850" b="1" dirty="0">
                <a:solidFill>
                  <a:srgbClr val="272525"/>
                </a:solidFill>
                <a:latin typeface="Source Sans Pro" pitchFamily="34" charset="0"/>
                <a:ea typeface="Source Sans Pro" pitchFamily="34" charset="-122"/>
                <a:cs typeface="Source Sans Pro" pitchFamily="34" charset="-120"/>
              </a:rPr>
              <a:t>Motion, Vibration, Presence</a:t>
            </a:r>
            <a:r>
              <a:rPr lang="en-US" sz="1850" dirty="0">
                <a:solidFill>
                  <a:srgbClr val="272525"/>
                </a:solidFill>
                <a:latin typeface="Source Sans Pro" pitchFamily="34" charset="0"/>
                <a:ea typeface="Source Sans Pro" pitchFamily="34" charset="-122"/>
                <a:cs typeface="Source Sans Pro" pitchFamily="34" charset="-120"/>
              </a:rPr>
              <a:t> detection.</a:t>
            </a: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8" name="Text 3"/>
          <p:cNvSpPr/>
          <p:nvPr/>
        </p:nvSpPr>
        <p:spPr>
          <a:xfrm>
            <a:off x="837724" y="2817257"/>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Hardware Schematic</a:t>
            </a:r>
            <a:endParaRPr lang="en-US" sz="4400" dirty="0"/>
          </a:p>
        </p:txBody>
      </p:sp>
      <p:sp>
        <p:nvSpPr>
          <p:cNvPr id="9" name="Text 4"/>
          <p:cNvSpPr/>
          <p:nvPr/>
        </p:nvSpPr>
        <p:spPr>
          <a:xfrm>
            <a:off x="837724" y="3880247"/>
            <a:ext cx="7468553" cy="1532096"/>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The circuit schematic provides a comprehensive visual representation of all component interconnections. This detailed diagram ensures proper wiring and serves as a blueprint for hardware assembly and troubleshooting.</a:t>
            </a:r>
            <a:endParaRPr lang="en-US" sz="1850" dirty="0"/>
          </a:p>
        </p:txBody>
      </p:sp>
      <p:sp>
        <p:nvSpPr>
          <p:cNvPr id="11" name="AutoShape 4" descr="Uploaded image">
            <a:extLst>
              <a:ext uri="{FF2B5EF4-FFF2-40B4-BE49-F238E27FC236}">
                <a16:creationId xmlns:a16="http://schemas.microsoft.com/office/drawing/2014/main" id="{41E13C14-71E4-A937-5ED9-17DAC04E8F0F}"/>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20E6BB16-D125-D904-B692-CEC8E291B357}"/>
              </a:ext>
            </a:extLst>
          </p:cNvPr>
          <p:cNvPicPr>
            <a:picLocks noChangeAspect="1"/>
          </p:cNvPicPr>
          <p:nvPr/>
        </p:nvPicPr>
        <p:blipFill>
          <a:blip r:embed="rId3"/>
          <a:stretch>
            <a:fillRect/>
          </a:stretch>
        </p:blipFill>
        <p:spPr>
          <a:xfrm>
            <a:off x="8458200" y="-9525"/>
            <a:ext cx="6172200" cy="8229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37724" y="1677948"/>
            <a:ext cx="3189089"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Phase 3: Implementation</a:t>
            </a:r>
            <a:endParaRPr lang="en-US" sz="2200" dirty="0"/>
          </a:p>
        </p:txBody>
      </p:sp>
      <p:sp>
        <p:nvSpPr>
          <p:cNvPr id="3" name="Text 1"/>
          <p:cNvSpPr/>
          <p:nvPr/>
        </p:nvSpPr>
        <p:spPr>
          <a:xfrm>
            <a:off x="837724" y="2269212"/>
            <a:ext cx="1155954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Hardware Assembly &amp; Software Development</a:t>
            </a:r>
            <a:endParaRPr lang="en-US" sz="4400" dirty="0"/>
          </a:p>
        </p:txBody>
      </p:sp>
      <p:sp>
        <p:nvSpPr>
          <p:cNvPr id="4" name="Text 2"/>
          <p:cNvSpPr/>
          <p:nvPr/>
        </p:nvSpPr>
        <p:spPr>
          <a:xfrm>
            <a:off x="837724" y="3332202"/>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The implementation phase focused on bringing the design to life, from assembling the physical components to writing the embedded code that powers the system's intelligence.</a:t>
            </a:r>
            <a:endParaRPr lang="en-US" sz="1850" dirty="0"/>
          </a:p>
        </p:txBody>
      </p:sp>
      <p:sp>
        <p:nvSpPr>
          <p:cNvPr id="5" name="Shape 3"/>
          <p:cNvSpPr/>
          <p:nvPr/>
        </p:nvSpPr>
        <p:spPr>
          <a:xfrm>
            <a:off x="837724" y="4367451"/>
            <a:ext cx="6357818" cy="2184202"/>
          </a:xfrm>
          <a:prstGeom prst="roundRect">
            <a:avLst>
              <a:gd name="adj" fmla="val 4603"/>
            </a:avLst>
          </a:prstGeom>
          <a:noFill/>
          <a:ln w="30480">
            <a:solidFill>
              <a:srgbClr val="D6BADD"/>
            </a:solidFill>
            <a:prstDash val="solid"/>
          </a:ln>
        </p:spPr>
        <p:txBody>
          <a:bodyPr/>
          <a:lstStyle/>
          <a:p>
            <a:endParaRPr lang="en-US"/>
          </a:p>
        </p:txBody>
      </p:sp>
      <p:sp>
        <p:nvSpPr>
          <p:cNvPr id="6" name="Text 4"/>
          <p:cNvSpPr/>
          <p:nvPr/>
        </p:nvSpPr>
        <p:spPr>
          <a:xfrm>
            <a:off x="1107519" y="4637246"/>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Hardware Assembly</a:t>
            </a:r>
            <a:endParaRPr lang="en-US" sz="2200" dirty="0"/>
          </a:p>
        </p:txBody>
      </p:sp>
      <p:sp>
        <p:nvSpPr>
          <p:cNvPr id="7" name="Text 5"/>
          <p:cNvSpPr/>
          <p:nvPr/>
        </p:nvSpPr>
        <p:spPr>
          <a:xfrm>
            <a:off x="1107519" y="5132784"/>
            <a:ext cx="5818227"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Components were meticulously wired on a breadboard, ensuring secure connections. Power rails and all inter-component wiring were rigorously verified for stability.</a:t>
            </a:r>
            <a:endParaRPr lang="en-US" sz="1850" dirty="0"/>
          </a:p>
        </p:txBody>
      </p:sp>
      <p:sp>
        <p:nvSpPr>
          <p:cNvPr id="8" name="Shape 6"/>
          <p:cNvSpPr/>
          <p:nvPr/>
        </p:nvSpPr>
        <p:spPr>
          <a:xfrm>
            <a:off x="7434858" y="4367451"/>
            <a:ext cx="6357818" cy="2184202"/>
          </a:xfrm>
          <a:prstGeom prst="roundRect">
            <a:avLst>
              <a:gd name="adj" fmla="val 4603"/>
            </a:avLst>
          </a:prstGeom>
          <a:noFill/>
          <a:ln w="30480">
            <a:solidFill>
              <a:srgbClr val="D6BADD"/>
            </a:solidFill>
            <a:prstDash val="solid"/>
          </a:ln>
        </p:spPr>
        <p:txBody>
          <a:bodyPr/>
          <a:lstStyle/>
          <a:p>
            <a:endParaRPr lang="en-US"/>
          </a:p>
        </p:txBody>
      </p:sp>
      <p:sp>
        <p:nvSpPr>
          <p:cNvPr id="9" name="Text 7"/>
          <p:cNvSpPr/>
          <p:nvPr/>
        </p:nvSpPr>
        <p:spPr>
          <a:xfrm>
            <a:off x="7704653" y="4637246"/>
            <a:ext cx="2887266"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Software Development</a:t>
            </a:r>
            <a:endParaRPr lang="en-US" sz="2200" dirty="0"/>
          </a:p>
        </p:txBody>
      </p:sp>
      <p:sp>
        <p:nvSpPr>
          <p:cNvPr id="10" name="Text 8"/>
          <p:cNvSpPr/>
          <p:nvPr/>
        </p:nvSpPr>
        <p:spPr>
          <a:xfrm>
            <a:off x="7704653" y="5132784"/>
            <a:ext cx="5818227"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The system's core logic was developed in embedded C, following a structured "Read → Compare → Actuate" paradigm for efficient and reliable operation.</a:t>
            </a:r>
            <a:endParaRPr lang="en-US" sz="1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37724" y="1273969"/>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System Integration</a:t>
            </a:r>
            <a:endParaRPr lang="en-US" sz="4400" dirty="0"/>
          </a:p>
        </p:txBody>
      </p:sp>
      <p:sp>
        <p:nvSpPr>
          <p:cNvPr id="3" name="Text 1"/>
          <p:cNvSpPr/>
          <p:nvPr/>
        </p:nvSpPr>
        <p:spPr>
          <a:xfrm>
            <a:off x="837724" y="2456736"/>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The integration phase was critical for combining individual components into a cohesive, functional prototype. This involved rigorous testing of the interconnected system to ensure all parts worked in harmony.</a:t>
            </a:r>
            <a:endParaRPr lang="en-US" sz="1850" dirty="0"/>
          </a:p>
        </p:txBody>
      </p:sp>
      <p:sp>
        <p:nvSpPr>
          <p:cNvPr id="4" name="Shape 2"/>
          <p:cNvSpPr/>
          <p:nvPr/>
        </p:nvSpPr>
        <p:spPr>
          <a:xfrm>
            <a:off x="837724" y="4210050"/>
            <a:ext cx="4198620" cy="239316"/>
          </a:xfrm>
          <a:prstGeom prst="roundRect">
            <a:avLst>
              <a:gd name="adj" fmla="val 42011"/>
            </a:avLst>
          </a:prstGeom>
          <a:solidFill>
            <a:srgbClr val="F0D4F7"/>
          </a:solidFill>
          <a:ln w="7620">
            <a:solidFill>
              <a:srgbClr val="D6BADD"/>
            </a:solidFill>
            <a:prstDash val="solid"/>
          </a:ln>
        </p:spPr>
        <p:txBody>
          <a:bodyPr/>
          <a:lstStyle/>
          <a:p>
            <a:endParaRPr lang="en-US"/>
          </a:p>
        </p:txBody>
      </p:sp>
      <p:sp>
        <p:nvSpPr>
          <p:cNvPr id="5" name="Text 3"/>
          <p:cNvSpPr/>
          <p:nvPr/>
        </p:nvSpPr>
        <p:spPr>
          <a:xfrm>
            <a:off x="1077039" y="4688681"/>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Component Testing</a:t>
            </a:r>
            <a:endParaRPr lang="en-US" sz="2200" dirty="0"/>
          </a:p>
        </p:txBody>
      </p:sp>
      <p:sp>
        <p:nvSpPr>
          <p:cNvPr id="6" name="Text 4"/>
          <p:cNvSpPr/>
          <p:nvPr/>
        </p:nvSpPr>
        <p:spPr>
          <a:xfrm>
            <a:off x="1077039" y="5184219"/>
            <a:ext cx="3719989" cy="1532096"/>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Individual sensors, the controller, and actuators were tested independently to confirm their functionality.</a:t>
            </a:r>
            <a:endParaRPr lang="en-US" sz="1850" dirty="0"/>
          </a:p>
        </p:txBody>
      </p:sp>
      <p:sp>
        <p:nvSpPr>
          <p:cNvPr id="7" name="Shape 5"/>
          <p:cNvSpPr/>
          <p:nvPr/>
        </p:nvSpPr>
        <p:spPr>
          <a:xfrm>
            <a:off x="5215771" y="3850958"/>
            <a:ext cx="4198739" cy="239316"/>
          </a:xfrm>
          <a:prstGeom prst="roundRect">
            <a:avLst>
              <a:gd name="adj" fmla="val 42011"/>
            </a:avLst>
          </a:prstGeom>
          <a:solidFill>
            <a:srgbClr val="F0D4F7"/>
          </a:solidFill>
          <a:ln w="7620">
            <a:solidFill>
              <a:srgbClr val="D6BADD"/>
            </a:solidFill>
            <a:prstDash val="solid"/>
          </a:ln>
        </p:spPr>
        <p:txBody>
          <a:bodyPr/>
          <a:lstStyle/>
          <a:p>
            <a:endParaRPr lang="en-US"/>
          </a:p>
        </p:txBody>
      </p:sp>
      <p:sp>
        <p:nvSpPr>
          <p:cNvPr id="8" name="Text 6"/>
          <p:cNvSpPr/>
          <p:nvPr/>
        </p:nvSpPr>
        <p:spPr>
          <a:xfrm>
            <a:off x="5455087" y="4329589"/>
            <a:ext cx="3019306"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Interoperability Checks</a:t>
            </a:r>
            <a:endParaRPr lang="en-US" sz="2200" dirty="0"/>
          </a:p>
        </p:txBody>
      </p:sp>
      <p:sp>
        <p:nvSpPr>
          <p:cNvPr id="9" name="Text 7"/>
          <p:cNvSpPr/>
          <p:nvPr/>
        </p:nvSpPr>
        <p:spPr>
          <a:xfrm>
            <a:off x="5455087" y="4825127"/>
            <a:ext cx="3720108" cy="1532096"/>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Verification of seamless communication and data exchange between all integrated hardware modules.</a:t>
            </a:r>
            <a:endParaRPr lang="en-US" sz="1850" dirty="0"/>
          </a:p>
        </p:txBody>
      </p:sp>
      <p:sp>
        <p:nvSpPr>
          <p:cNvPr id="10" name="Shape 8"/>
          <p:cNvSpPr/>
          <p:nvPr/>
        </p:nvSpPr>
        <p:spPr>
          <a:xfrm>
            <a:off x="9593937" y="3491984"/>
            <a:ext cx="4198739" cy="239316"/>
          </a:xfrm>
          <a:prstGeom prst="roundRect">
            <a:avLst>
              <a:gd name="adj" fmla="val 42011"/>
            </a:avLst>
          </a:prstGeom>
          <a:solidFill>
            <a:srgbClr val="F0D4F7"/>
          </a:solidFill>
          <a:ln w="7620">
            <a:solidFill>
              <a:srgbClr val="D6BADD"/>
            </a:solidFill>
            <a:prstDash val="solid"/>
          </a:ln>
        </p:spPr>
        <p:txBody>
          <a:bodyPr/>
          <a:lstStyle/>
          <a:p>
            <a:endParaRPr lang="en-US"/>
          </a:p>
        </p:txBody>
      </p:sp>
      <p:sp>
        <p:nvSpPr>
          <p:cNvPr id="11" name="Text 9"/>
          <p:cNvSpPr/>
          <p:nvPr/>
        </p:nvSpPr>
        <p:spPr>
          <a:xfrm>
            <a:off x="9833253" y="3970615"/>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Functional Prototype</a:t>
            </a:r>
            <a:endParaRPr lang="en-US" sz="2200" dirty="0"/>
          </a:p>
        </p:txBody>
      </p:sp>
      <p:sp>
        <p:nvSpPr>
          <p:cNvPr id="12" name="Text 10"/>
          <p:cNvSpPr/>
          <p:nvPr/>
        </p:nvSpPr>
        <p:spPr>
          <a:xfrm>
            <a:off x="9833253" y="4466153"/>
            <a:ext cx="3720108" cy="1532096"/>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The complete system was assembled and validated, resulting in a fully operational prototype ready for comprehensive testing.</a:t>
            </a:r>
            <a:endParaRPr lang="en-US" sz="1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37724" y="1038225"/>
            <a:ext cx="3291245"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Phase 4: Testing &amp; Results</a:t>
            </a:r>
            <a:endParaRPr lang="en-US" sz="2200" dirty="0"/>
          </a:p>
        </p:txBody>
      </p:sp>
      <p:sp>
        <p:nvSpPr>
          <p:cNvPr id="3" name="Text 1"/>
          <p:cNvSpPr/>
          <p:nvPr/>
        </p:nvSpPr>
        <p:spPr>
          <a:xfrm>
            <a:off x="837724" y="1629489"/>
            <a:ext cx="12542877"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Comprehensive Testing and Successful Outcomes</a:t>
            </a:r>
            <a:endParaRPr lang="en-US" sz="4400" dirty="0"/>
          </a:p>
        </p:txBody>
      </p:sp>
      <p:sp>
        <p:nvSpPr>
          <p:cNvPr id="4" name="Text 2"/>
          <p:cNvSpPr/>
          <p:nvPr/>
        </p:nvSpPr>
        <p:spPr>
          <a:xfrm>
            <a:off x="837724" y="2692479"/>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Our rigorous testing strategy validated the system's reliability and effectiveness in detecting and responding to safety thresholds.</a:t>
            </a:r>
            <a:endParaRPr lang="en-US" sz="1850" dirty="0"/>
          </a:p>
        </p:txBody>
      </p:sp>
      <p:sp>
        <p:nvSpPr>
          <p:cNvPr id="5" name="Text 3"/>
          <p:cNvSpPr/>
          <p:nvPr/>
        </p:nvSpPr>
        <p:spPr>
          <a:xfrm>
            <a:off x="837724" y="3584019"/>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Testing Strategy</a:t>
            </a:r>
            <a:endParaRPr lang="en-US" sz="2200" dirty="0"/>
          </a:p>
        </p:txBody>
      </p:sp>
      <p:sp>
        <p:nvSpPr>
          <p:cNvPr id="6" name="Text 4"/>
          <p:cNvSpPr/>
          <p:nvPr/>
        </p:nvSpPr>
        <p:spPr>
          <a:xfrm>
            <a:off x="837724" y="4175284"/>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Unit Testing:</a:t>
            </a:r>
            <a:r>
              <a:rPr lang="en-US" sz="1850" dirty="0">
                <a:solidFill>
                  <a:srgbClr val="272525"/>
                </a:solidFill>
                <a:latin typeface="Source Sans Pro" pitchFamily="34" charset="0"/>
                <a:ea typeface="Source Sans Pro" pitchFamily="34" charset="-122"/>
                <a:cs typeface="Source Sans Pro" pitchFamily="34" charset="-120"/>
              </a:rPr>
              <a:t> Individual sensors and modules were validated for accuracy and performance.</a:t>
            </a:r>
            <a:endParaRPr lang="en-US" sz="1850" dirty="0"/>
          </a:p>
        </p:txBody>
      </p:sp>
      <p:sp>
        <p:nvSpPr>
          <p:cNvPr id="7" name="Text 5"/>
          <p:cNvSpPr/>
          <p:nvPr/>
        </p:nvSpPr>
        <p:spPr>
          <a:xfrm>
            <a:off x="837724" y="5025033"/>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Integration Testing:</a:t>
            </a:r>
            <a:r>
              <a:rPr lang="en-US" sz="1850" dirty="0">
                <a:solidFill>
                  <a:srgbClr val="272525"/>
                </a:solidFill>
                <a:latin typeface="Source Sans Pro" pitchFamily="34" charset="0"/>
                <a:ea typeface="Source Sans Pro" pitchFamily="34" charset="-122"/>
                <a:cs typeface="Source Sans Pro" pitchFamily="34" charset="-120"/>
              </a:rPr>
              <a:t> All components were tested as a complete system to ensure seamless operation.</a:t>
            </a:r>
            <a:endParaRPr lang="en-US" sz="1850" dirty="0"/>
          </a:p>
        </p:txBody>
      </p:sp>
      <p:sp>
        <p:nvSpPr>
          <p:cNvPr id="8" name="Text 6"/>
          <p:cNvSpPr/>
          <p:nvPr/>
        </p:nvSpPr>
        <p:spPr>
          <a:xfrm>
            <a:off x="837724" y="5874782"/>
            <a:ext cx="6185535" cy="1149072"/>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Condition Simulation:</a:t>
            </a:r>
            <a:r>
              <a:rPr lang="en-US" sz="1850" dirty="0">
                <a:solidFill>
                  <a:srgbClr val="272525"/>
                </a:solidFill>
                <a:latin typeface="Source Sans Pro" pitchFamily="34" charset="0"/>
                <a:ea typeface="Source Sans Pro" pitchFamily="34" charset="-122"/>
                <a:cs typeface="Source Sans Pro" pitchFamily="34" charset="-120"/>
              </a:rPr>
              <a:t> Real-world scenarios were simulated to trigger system responses under controlled conditions.</a:t>
            </a:r>
            <a:endParaRPr lang="en-US" sz="1850" dirty="0"/>
          </a:p>
        </p:txBody>
      </p:sp>
      <p:sp>
        <p:nvSpPr>
          <p:cNvPr id="9" name="Text 7"/>
          <p:cNvSpPr/>
          <p:nvPr/>
        </p:nvSpPr>
        <p:spPr>
          <a:xfrm>
            <a:off x="7614761" y="3584019"/>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Key Results</a:t>
            </a:r>
            <a:endParaRPr lang="en-US" sz="2200" dirty="0"/>
          </a:p>
        </p:txBody>
      </p:sp>
      <p:sp>
        <p:nvSpPr>
          <p:cNvPr id="10" name="Text 8"/>
          <p:cNvSpPr/>
          <p:nvPr/>
        </p:nvSpPr>
        <p:spPr>
          <a:xfrm>
            <a:off x="7614761" y="4175284"/>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DHT11:</a:t>
            </a:r>
            <a:r>
              <a:rPr lang="en-US" sz="1850" dirty="0">
                <a:solidFill>
                  <a:srgbClr val="272525"/>
                </a:solidFill>
                <a:latin typeface="Source Sans Pro" pitchFamily="34" charset="0"/>
                <a:ea typeface="Source Sans Pro" pitchFamily="34" charset="-122"/>
                <a:cs typeface="Source Sans Pro" pitchFamily="34" charset="-120"/>
              </a:rPr>
              <a:t> Temperature ≥27°C successfully triggered motor stop and alerts.</a:t>
            </a:r>
            <a:endParaRPr lang="en-US" sz="1850" dirty="0"/>
          </a:p>
        </p:txBody>
      </p:sp>
      <p:sp>
        <p:nvSpPr>
          <p:cNvPr id="11" name="Text 9"/>
          <p:cNvSpPr/>
          <p:nvPr/>
        </p:nvSpPr>
        <p:spPr>
          <a:xfrm>
            <a:off x="7614761" y="5025033"/>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Humidity:</a:t>
            </a:r>
            <a:r>
              <a:rPr lang="en-US" sz="1850" dirty="0">
                <a:solidFill>
                  <a:srgbClr val="272525"/>
                </a:solidFill>
                <a:latin typeface="Source Sans Pro" pitchFamily="34" charset="0"/>
                <a:ea typeface="Source Sans Pro" pitchFamily="34" charset="-122"/>
                <a:cs typeface="Source Sans Pro" pitchFamily="34" charset="-120"/>
              </a:rPr>
              <a:t> Levels ≥73% reliably activated alerts.</a:t>
            </a:r>
            <a:endParaRPr lang="en-US" sz="1850" dirty="0"/>
          </a:p>
        </p:txBody>
      </p:sp>
      <p:sp>
        <p:nvSpPr>
          <p:cNvPr id="12" name="Text 10"/>
          <p:cNvSpPr/>
          <p:nvPr/>
        </p:nvSpPr>
        <p:spPr>
          <a:xfrm>
            <a:off x="7614761" y="5491758"/>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Motion/Vibration/Presence:</a:t>
            </a:r>
            <a:r>
              <a:rPr lang="en-US" sz="1850" dirty="0">
                <a:solidFill>
                  <a:srgbClr val="272525"/>
                </a:solidFill>
                <a:latin typeface="Source Sans Pro" pitchFamily="34" charset="0"/>
                <a:ea typeface="Source Sans Pro" pitchFamily="34" charset="-122"/>
                <a:cs typeface="Source Sans Pro" pitchFamily="34" charset="-120"/>
              </a:rPr>
              <a:t> All detections promptly stopped motors and triggered alerts.</a:t>
            </a:r>
            <a:endParaRPr lang="en-US" sz="1850" dirty="0"/>
          </a:p>
        </p:txBody>
      </p:sp>
      <p:sp>
        <p:nvSpPr>
          <p:cNvPr id="13" name="Text 11"/>
          <p:cNvSpPr/>
          <p:nvPr/>
        </p:nvSpPr>
        <p:spPr>
          <a:xfrm>
            <a:off x="7614761" y="6341507"/>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272525"/>
                </a:solidFill>
                <a:latin typeface="Source Sans Pro" pitchFamily="34" charset="0"/>
                <a:ea typeface="Source Sans Pro" pitchFamily="34" charset="-122"/>
                <a:cs typeface="Source Sans Pro" pitchFamily="34" charset="-120"/>
              </a:rPr>
              <a:t>Reliability:</a:t>
            </a:r>
            <a:r>
              <a:rPr lang="en-US" sz="1850" dirty="0">
                <a:solidFill>
                  <a:srgbClr val="272525"/>
                </a:solidFill>
                <a:latin typeface="Source Sans Pro" pitchFamily="34" charset="0"/>
                <a:ea typeface="Source Sans Pro" pitchFamily="34" charset="-122"/>
                <a:cs typeface="Source Sans Pro" pitchFamily="34" charset="-120"/>
              </a:rPr>
              <a:t> The system consistently functioned without failure across all test cases.</a:t>
            </a:r>
            <a:endParaRPr lang="en-US" sz="1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37724" y="1719977"/>
            <a:ext cx="7286863"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Enhancing Workplace Safety</a:t>
            </a:r>
            <a:endParaRPr lang="en-US" sz="4400" dirty="0"/>
          </a:p>
        </p:txBody>
      </p:sp>
      <p:sp>
        <p:nvSpPr>
          <p:cNvPr id="3" name="Shape 1"/>
          <p:cNvSpPr/>
          <p:nvPr/>
        </p:nvSpPr>
        <p:spPr>
          <a:xfrm>
            <a:off x="837724" y="3231237"/>
            <a:ext cx="4158734" cy="121920"/>
          </a:xfrm>
          <a:prstGeom prst="roundRect">
            <a:avLst>
              <a:gd name="adj" fmla="val 82464"/>
            </a:avLst>
          </a:prstGeom>
          <a:solidFill>
            <a:srgbClr val="BE49DF"/>
          </a:solidFill>
          <a:ln/>
        </p:spPr>
        <p:txBody>
          <a:bodyPr/>
          <a:lstStyle/>
          <a:p>
            <a:endParaRPr lang="en-US"/>
          </a:p>
        </p:txBody>
      </p:sp>
      <p:sp>
        <p:nvSpPr>
          <p:cNvPr id="4" name="Shape 2"/>
          <p:cNvSpPr/>
          <p:nvPr/>
        </p:nvSpPr>
        <p:spPr>
          <a:xfrm>
            <a:off x="2557998" y="2902744"/>
            <a:ext cx="718066" cy="718066"/>
          </a:xfrm>
          <a:prstGeom prst="roundRect">
            <a:avLst>
              <a:gd name="adj" fmla="val 127342"/>
            </a:avLst>
          </a:prstGeom>
          <a:solidFill>
            <a:srgbClr val="BE49D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2773382" y="3082290"/>
            <a:ext cx="287179" cy="358973"/>
          </a:xfrm>
          <a:prstGeom prst="rect">
            <a:avLst/>
          </a:prstGeom>
        </p:spPr>
      </p:pic>
      <p:sp>
        <p:nvSpPr>
          <p:cNvPr id="6" name="Text 3"/>
          <p:cNvSpPr/>
          <p:nvPr/>
        </p:nvSpPr>
        <p:spPr>
          <a:xfrm>
            <a:off x="1107519" y="3860125"/>
            <a:ext cx="3619143"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Enhanced Worker Safety &amp; Comfort</a:t>
            </a:r>
            <a:endParaRPr lang="en-US" sz="2200" dirty="0"/>
          </a:p>
        </p:txBody>
      </p:sp>
      <p:sp>
        <p:nvSpPr>
          <p:cNvPr id="7" name="Text 4"/>
          <p:cNvSpPr/>
          <p:nvPr/>
        </p:nvSpPr>
        <p:spPr>
          <a:xfrm>
            <a:off x="1107519" y="4707612"/>
            <a:ext cx="3619143" cy="1532096"/>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Ensuring optimal environmental conditions minimizes health risks and improves overall well-being on the factory floor.</a:t>
            </a:r>
            <a:endParaRPr lang="en-US" sz="1850" dirty="0"/>
          </a:p>
        </p:txBody>
      </p:sp>
      <p:sp>
        <p:nvSpPr>
          <p:cNvPr id="8" name="Shape 5"/>
          <p:cNvSpPr/>
          <p:nvPr/>
        </p:nvSpPr>
        <p:spPr>
          <a:xfrm>
            <a:off x="5235773" y="3231237"/>
            <a:ext cx="4158734" cy="121920"/>
          </a:xfrm>
          <a:prstGeom prst="roundRect">
            <a:avLst>
              <a:gd name="adj" fmla="val 82464"/>
            </a:avLst>
          </a:prstGeom>
          <a:solidFill>
            <a:srgbClr val="BE49DF"/>
          </a:solidFill>
          <a:ln/>
        </p:spPr>
        <p:txBody>
          <a:bodyPr/>
          <a:lstStyle/>
          <a:p>
            <a:endParaRPr lang="en-US"/>
          </a:p>
        </p:txBody>
      </p:sp>
      <p:sp>
        <p:nvSpPr>
          <p:cNvPr id="9" name="Shape 6"/>
          <p:cNvSpPr/>
          <p:nvPr/>
        </p:nvSpPr>
        <p:spPr>
          <a:xfrm>
            <a:off x="6956048" y="2902744"/>
            <a:ext cx="718066" cy="718066"/>
          </a:xfrm>
          <a:prstGeom prst="roundRect">
            <a:avLst>
              <a:gd name="adj" fmla="val 127342"/>
            </a:avLst>
          </a:prstGeom>
          <a:solidFill>
            <a:srgbClr val="BE49DF"/>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171432" y="3082290"/>
            <a:ext cx="287179" cy="358973"/>
          </a:xfrm>
          <a:prstGeom prst="rect">
            <a:avLst/>
          </a:prstGeom>
        </p:spPr>
      </p:pic>
      <p:sp>
        <p:nvSpPr>
          <p:cNvPr id="11" name="Text 7"/>
          <p:cNvSpPr/>
          <p:nvPr/>
        </p:nvSpPr>
        <p:spPr>
          <a:xfrm>
            <a:off x="5505569" y="3860125"/>
            <a:ext cx="3619143"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Reduced Risk of Machine Failure</a:t>
            </a:r>
            <a:endParaRPr lang="en-US" sz="2200" dirty="0"/>
          </a:p>
        </p:txBody>
      </p:sp>
      <p:sp>
        <p:nvSpPr>
          <p:cNvPr id="12" name="Text 8"/>
          <p:cNvSpPr/>
          <p:nvPr/>
        </p:nvSpPr>
        <p:spPr>
          <a:xfrm>
            <a:off x="5505569" y="4707612"/>
            <a:ext cx="3619143"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Proactive monitoring prevents costly breakdowns and extends the lifespan of critical machinery.</a:t>
            </a:r>
            <a:endParaRPr lang="en-US" sz="1850" dirty="0"/>
          </a:p>
        </p:txBody>
      </p:sp>
      <p:sp>
        <p:nvSpPr>
          <p:cNvPr id="13" name="Shape 9"/>
          <p:cNvSpPr/>
          <p:nvPr/>
        </p:nvSpPr>
        <p:spPr>
          <a:xfrm>
            <a:off x="9633823" y="3231237"/>
            <a:ext cx="4158853" cy="121920"/>
          </a:xfrm>
          <a:prstGeom prst="roundRect">
            <a:avLst>
              <a:gd name="adj" fmla="val 82464"/>
            </a:avLst>
          </a:prstGeom>
          <a:solidFill>
            <a:srgbClr val="BE49DF"/>
          </a:solidFill>
          <a:ln/>
        </p:spPr>
        <p:txBody>
          <a:bodyPr/>
          <a:lstStyle/>
          <a:p>
            <a:endParaRPr lang="en-US"/>
          </a:p>
        </p:txBody>
      </p:sp>
      <p:sp>
        <p:nvSpPr>
          <p:cNvPr id="14" name="Shape 10"/>
          <p:cNvSpPr/>
          <p:nvPr/>
        </p:nvSpPr>
        <p:spPr>
          <a:xfrm>
            <a:off x="11354217" y="2902744"/>
            <a:ext cx="718066" cy="718066"/>
          </a:xfrm>
          <a:prstGeom prst="roundRect">
            <a:avLst>
              <a:gd name="adj" fmla="val 127342"/>
            </a:avLst>
          </a:prstGeom>
          <a:solidFill>
            <a:srgbClr val="BE49DF"/>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11569601" y="3082290"/>
            <a:ext cx="287179" cy="358973"/>
          </a:xfrm>
          <a:prstGeom prst="rect">
            <a:avLst/>
          </a:prstGeom>
        </p:spPr>
      </p:pic>
      <p:sp>
        <p:nvSpPr>
          <p:cNvPr id="16" name="Text 11"/>
          <p:cNvSpPr/>
          <p:nvPr/>
        </p:nvSpPr>
        <p:spPr>
          <a:xfrm>
            <a:off x="9903619" y="3860125"/>
            <a:ext cx="3619262"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Compliance with Industry &amp; OSHA Guidelines</a:t>
            </a:r>
            <a:endParaRPr lang="en-US" sz="2200" dirty="0"/>
          </a:p>
        </p:txBody>
      </p:sp>
      <p:sp>
        <p:nvSpPr>
          <p:cNvPr id="17" name="Text 12"/>
          <p:cNvSpPr/>
          <p:nvPr/>
        </p:nvSpPr>
        <p:spPr>
          <a:xfrm>
            <a:off x="9903619" y="4707612"/>
            <a:ext cx="3619262"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Adherence to strict regulatory standards ensures a safe and legal operating environment.</a:t>
            </a:r>
            <a:endParaRPr lang="en-US" sz="1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251817" y="631865"/>
            <a:ext cx="5837039" cy="675799"/>
          </a:xfrm>
          <a:prstGeom prst="rect">
            <a:avLst/>
          </a:prstGeom>
          <a:noFill/>
          <a:ln/>
        </p:spPr>
        <p:txBody>
          <a:bodyPr wrap="none" lIns="0" tIns="0" rIns="0" bIns="0" rtlCol="0" anchor="t"/>
          <a:lstStyle/>
          <a:p>
            <a:pPr marL="0" indent="0" algn="l">
              <a:lnSpc>
                <a:spcPts val="5300"/>
              </a:lnSpc>
              <a:buNone/>
            </a:pPr>
            <a:r>
              <a:rPr lang="en-US" sz="4250" dirty="0">
                <a:solidFill>
                  <a:srgbClr val="000000"/>
                </a:solidFill>
                <a:latin typeface="Source Serif Pro Semi Bold" pitchFamily="34" charset="0"/>
                <a:ea typeface="Source Serif Pro Semi Bold" pitchFamily="34" charset="-122"/>
                <a:cs typeface="Source Serif Pro Semi Bold" pitchFamily="34" charset="-120"/>
              </a:rPr>
              <a:t>Operational Advantages</a:t>
            </a:r>
            <a:endParaRPr lang="en-US" sz="4250" dirty="0"/>
          </a:p>
        </p:txBody>
      </p:sp>
      <p:sp>
        <p:nvSpPr>
          <p:cNvPr id="3" name="Text 1"/>
          <p:cNvSpPr/>
          <p:nvPr/>
        </p:nvSpPr>
        <p:spPr>
          <a:xfrm>
            <a:off x="251817" y="1859161"/>
            <a:ext cx="6230660" cy="735330"/>
          </a:xfrm>
          <a:prstGeom prst="rect">
            <a:avLst/>
          </a:prstGeom>
          <a:noFill/>
          <a:ln/>
        </p:spPr>
        <p:txBody>
          <a:bodyPr wrap="square" lIns="0" tIns="0" rIns="0" bIns="0" rtlCol="0" anchor="t"/>
          <a:lstStyle/>
          <a:p>
            <a:pPr marL="0" indent="0" algn="l">
              <a:lnSpc>
                <a:spcPts val="2850"/>
              </a:lnSpc>
              <a:buNone/>
            </a:pPr>
            <a:r>
              <a:rPr lang="en-US" sz="1800" dirty="0">
                <a:solidFill>
                  <a:srgbClr val="272525"/>
                </a:solidFill>
                <a:latin typeface="Source Sans Pro" pitchFamily="34" charset="0"/>
                <a:ea typeface="Source Sans Pro" pitchFamily="34" charset="-122"/>
                <a:cs typeface="Source Sans Pro" pitchFamily="34" charset="-120"/>
              </a:rPr>
              <a:t>Our automated system provides significant operational benefits, streamlining processes and improving responsiveness.</a:t>
            </a:r>
            <a:endParaRPr lang="en-US" sz="1800" dirty="0"/>
          </a:p>
        </p:txBody>
      </p:sp>
      <p:sp>
        <p:nvSpPr>
          <p:cNvPr id="4" name="Text 2"/>
          <p:cNvSpPr/>
          <p:nvPr/>
        </p:nvSpPr>
        <p:spPr>
          <a:xfrm>
            <a:off x="251817" y="2801303"/>
            <a:ext cx="6230660" cy="735330"/>
          </a:xfrm>
          <a:prstGeom prst="rect">
            <a:avLst/>
          </a:prstGeom>
          <a:noFill/>
          <a:ln/>
        </p:spPr>
        <p:txBody>
          <a:bodyPr wrap="square" lIns="0" tIns="0" rIns="0" bIns="0" rtlCol="0" anchor="t"/>
          <a:lstStyle/>
          <a:p>
            <a:pPr marL="342900" indent="-342900" algn="l">
              <a:lnSpc>
                <a:spcPts val="2850"/>
              </a:lnSpc>
              <a:buSzPct val="100000"/>
              <a:buChar char="•"/>
            </a:pPr>
            <a:r>
              <a:rPr lang="en-US" sz="1800" b="1" dirty="0">
                <a:solidFill>
                  <a:srgbClr val="272525"/>
                </a:solidFill>
                <a:latin typeface="Source Sans Pro" pitchFamily="34" charset="0"/>
                <a:ea typeface="Source Sans Pro" pitchFamily="34" charset="-122"/>
                <a:cs typeface="Source Sans Pro" pitchFamily="34" charset="-120"/>
              </a:rPr>
              <a:t>Real-time monitoring:</a:t>
            </a:r>
            <a:r>
              <a:rPr lang="en-US" sz="1800" dirty="0">
                <a:solidFill>
                  <a:srgbClr val="272525"/>
                </a:solidFill>
                <a:latin typeface="Source Sans Pro" pitchFamily="34" charset="0"/>
                <a:ea typeface="Source Sans Pro" pitchFamily="34" charset="-122"/>
                <a:cs typeface="Source Sans Pro" pitchFamily="34" charset="-120"/>
              </a:rPr>
              <a:t> Continuous data streams provide immediate insights into environmental conditions.</a:t>
            </a:r>
            <a:endParaRPr lang="en-US" sz="1800" dirty="0"/>
          </a:p>
        </p:txBody>
      </p:sp>
      <p:sp>
        <p:nvSpPr>
          <p:cNvPr id="5" name="Text 3"/>
          <p:cNvSpPr/>
          <p:nvPr/>
        </p:nvSpPr>
        <p:spPr>
          <a:xfrm>
            <a:off x="251817" y="3617000"/>
            <a:ext cx="6230660" cy="735330"/>
          </a:xfrm>
          <a:prstGeom prst="rect">
            <a:avLst/>
          </a:prstGeom>
          <a:noFill/>
          <a:ln/>
        </p:spPr>
        <p:txBody>
          <a:bodyPr wrap="square" lIns="0" tIns="0" rIns="0" bIns="0" rtlCol="0" anchor="t"/>
          <a:lstStyle/>
          <a:p>
            <a:pPr marL="342900" indent="-342900" algn="l">
              <a:lnSpc>
                <a:spcPts val="2850"/>
              </a:lnSpc>
              <a:buSzPct val="100000"/>
              <a:buChar char="•"/>
            </a:pPr>
            <a:r>
              <a:rPr lang="en-US" sz="1800" b="1" dirty="0">
                <a:solidFill>
                  <a:srgbClr val="272525"/>
                </a:solidFill>
                <a:latin typeface="Source Sans Pro" pitchFamily="34" charset="0"/>
                <a:ea typeface="Source Sans Pro" pitchFamily="34" charset="-122"/>
                <a:cs typeface="Source Sans Pro" pitchFamily="34" charset="-120"/>
              </a:rPr>
              <a:t>Immediate action on unsafe conditions:</a:t>
            </a:r>
            <a:r>
              <a:rPr lang="en-US" sz="1800" dirty="0">
                <a:solidFill>
                  <a:srgbClr val="272525"/>
                </a:solidFill>
                <a:latin typeface="Source Sans Pro" pitchFamily="34" charset="0"/>
                <a:ea typeface="Source Sans Pro" pitchFamily="34" charset="-122"/>
                <a:cs typeface="Source Sans Pro" pitchFamily="34" charset="-120"/>
              </a:rPr>
              <a:t> Automated alerts and responses mitigate risks without delay.</a:t>
            </a:r>
            <a:endParaRPr lang="en-US" sz="1800" dirty="0"/>
          </a:p>
        </p:txBody>
      </p:sp>
      <p:sp>
        <p:nvSpPr>
          <p:cNvPr id="6" name="Text 4"/>
          <p:cNvSpPr/>
          <p:nvPr/>
        </p:nvSpPr>
        <p:spPr>
          <a:xfrm>
            <a:off x="251817" y="4432697"/>
            <a:ext cx="6230660" cy="735330"/>
          </a:xfrm>
          <a:prstGeom prst="rect">
            <a:avLst/>
          </a:prstGeom>
          <a:noFill/>
          <a:ln/>
        </p:spPr>
        <p:txBody>
          <a:bodyPr wrap="square" lIns="0" tIns="0" rIns="0" bIns="0" rtlCol="0" anchor="t"/>
          <a:lstStyle/>
          <a:p>
            <a:pPr marL="342900" indent="-342900" algn="l">
              <a:lnSpc>
                <a:spcPts val="2850"/>
              </a:lnSpc>
              <a:buSzPct val="100000"/>
              <a:buChar char="•"/>
            </a:pPr>
            <a:r>
              <a:rPr lang="en-US" sz="1800" b="1" dirty="0">
                <a:solidFill>
                  <a:srgbClr val="272525"/>
                </a:solidFill>
                <a:latin typeface="Source Sans Pro" pitchFamily="34" charset="0"/>
                <a:ea typeface="Source Sans Pro" pitchFamily="34" charset="-122"/>
                <a:cs typeface="Source Sans Pro" pitchFamily="34" charset="-120"/>
              </a:rPr>
              <a:t>Low-cost &amp; scalable solution:</a:t>
            </a:r>
            <a:r>
              <a:rPr lang="en-US" sz="1800" dirty="0">
                <a:solidFill>
                  <a:srgbClr val="272525"/>
                </a:solidFill>
                <a:latin typeface="Source Sans Pro" pitchFamily="34" charset="0"/>
                <a:ea typeface="Source Sans Pro" pitchFamily="34" charset="-122"/>
                <a:cs typeface="Source Sans Pro" pitchFamily="34" charset="-120"/>
              </a:rPr>
              <a:t> Designed for affordability and easy expansion across various industrial settings.</a:t>
            </a:r>
            <a:endParaRPr lang="en-US" sz="1800" dirty="0"/>
          </a:p>
        </p:txBody>
      </p:sp>
      <p:pic>
        <p:nvPicPr>
          <p:cNvPr id="11" name="Picture 10">
            <a:extLst>
              <a:ext uri="{FF2B5EF4-FFF2-40B4-BE49-F238E27FC236}">
                <a16:creationId xmlns:a16="http://schemas.microsoft.com/office/drawing/2014/main" id="{58F1151D-1399-8804-3F10-D9E1B08455E3}"/>
              </a:ext>
            </a:extLst>
          </p:cNvPr>
          <p:cNvPicPr>
            <a:picLocks noChangeAspect="1"/>
          </p:cNvPicPr>
          <p:nvPr/>
        </p:nvPicPr>
        <p:blipFill>
          <a:blip r:embed="rId3"/>
          <a:stretch>
            <a:fillRect/>
          </a:stretch>
        </p:blipFill>
        <p:spPr>
          <a:xfrm>
            <a:off x="10572750" y="5066988"/>
            <a:ext cx="3003128" cy="2595559"/>
          </a:xfrm>
          <a:prstGeom prst="rect">
            <a:avLst/>
          </a:prstGeom>
        </p:spPr>
      </p:pic>
      <p:pic>
        <p:nvPicPr>
          <p:cNvPr id="13" name="Picture 12">
            <a:extLst>
              <a:ext uri="{FF2B5EF4-FFF2-40B4-BE49-F238E27FC236}">
                <a16:creationId xmlns:a16="http://schemas.microsoft.com/office/drawing/2014/main" id="{39A5A861-0630-7C00-2FDD-C7AE205EA8CD}"/>
              </a:ext>
            </a:extLst>
          </p:cNvPr>
          <p:cNvPicPr>
            <a:picLocks noChangeAspect="1"/>
          </p:cNvPicPr>
          <p:nvPr/>
        </p:nvPicPr>
        <p:blipFill>
          <a:blip r:embed="rId4"/>
          <a:stretch>
            <a:fillRect/>
          </a:stretch>
        </p:blipFill>
        <p:spPr>
          <a:xfrm>
            <a:off x="6648450" y="447792"/>
            <a:ext cx="2495550" cy="3327400"/>
          </a:xfrm>
          <a:prstGeom prst="rect">
            <a:avLst/>
          </a:prstGeom>
        </p:spPr>
      </p:pic>
      <p:pic>
        <p:nvPicPr>
          <p:cNvPr id="15" name="Picture 14">
            <a:extLst>
              <a:ext uri="{FF2B5EF4-FFF2-40B4-BE49-F238E27FC236}">
                <a16:creationId xmlns:a16="http://schemas.microsoft.com/office/drawing/2014/main" id="{FF83E13C-AA64-062D-014A-99DAF0B995DD}"/>
              </a:ext>
            </a:extLst>
          </p:cNvPr>
          <p:cNvPicPr>
            <a:picLocks noChangeAspect="1"/>
          </p:cNvPicPr>
          <p:nvPr/>
        </p:nvPicPr>
        <p:blipFill>
          <a:blip r:embed="rId5"/>
          <a:stretch>
            <a:fillRect/>
          </a:stretch>
        </p:blipFill>
        <p:spPr>
          <a:xfrm>
            <a:off x="6272212" y="5078330"/>
            <a:ext cx="3400425" cy="2584217"/>
          </a:xfrm>
          <a:prstGeom prst="rect">
            <a:avLst/>
          </a:prstGeom>
        </p:spPr>
      </p:pic>
      <p:pic>
        <p:nvPicPr>
          <p:cNvPr id="17" name="Picture 16">
            <a:extLst>
              <a:ext uri="{FF2B5EF4-FFF2-40B4-BE49-F238E27FC236}">
                <a16:creationId xmlns:a16="http://schemas.microsoft.com/office/drawing/2014/main" id="{D590A07B-BEF5-B40F-2458-DD03B307A7C1}"/>
              </a:ext>
            </a:extLst>
          </p:cNvPr>
          <p:cNvPicPr>
            <a:picLocks noChangeAspect="1"/>
          </p:cNvPicPr>
          <p:nvPr/>
        </p:nvPicPr>
        <p:blipFill>
          <a:blip r:embed="rId6"/>
          <a:stretch>
            <a:fillRect/>
          </a:stretch>
        </p:blipFill>
        <p:spPr>
          <a:xfrm>
            <a:off x="10946679" y="447792"/>
            <a:ext cx="1903810" cy="3327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37724" y="1603653"/>
            <a:ext cx="9952911"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Lessons Learned from Implementation</a:t>
            </a:r>
            <a:endParaRPr lang="en-US" sz="4400" dirty="0"/>
          </a:p>
        </p:txBody>
      </p:sp>
      <p:sp>
        <p:nvSpPr>
          <p:cNvPr id="3" name="Shape 1"/>
          <p:cNvSpPr/>
          <p:nvPr/>
        </p:nvSpPr>
        <p:spPr>
          <a:xfrm>
            <a:off x="837724" y="3504486"/>
            <a:ext cx="4198620" cy="239316"/>
          </a:xfrm>
          <a:prstGeom prst="roundRect">
            <a:avLst>
              <a:gd name="adj" fmla="val 42011"/>
            </a:avLst>
          </a:prstGeom>
          <a:solidFill>
            <a:srgbClr val="F0D4F7"/>
          </a:solidFill>
          <a:ln w="7620">
            <a:solidFill>
              <a:srgbClr val="D6BADD"/>
            </a:solidFill>
            <a:prstDash val="solid"/>
          </a:ln>
        </p:spPr>
        <p:txBody>
          <a:bodyPr/>
          <a:lstStyle/>
          <a:p>
            <a:endParaRPr lang="en-US"/>
          </a:p>
        </p:txBody>
      </p:sp>
      <p:sp>
        <p:nvSpPr>
          <p:cNvPr id="4" name="Text 2"/>
          <p:cNvSpPr/>
          <p:nvPr/>
        </p:nvSpPr>
        <p:spPr>
          <a:xfrm>
            <a:off x="1077039" y="3983117"/>
            <a:ext cx="3256002"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Careful Calibration is Key</a:t>
            </a:r>
            <a:endParaRPr lang="en-US" sz="2200" dirty="0"/>
          </a:p>
        </p:txBody>
      </p:sp>
      <p:sp>
        <p:nvSpPr>
          <p:cNvPr id="5" name="Text 3"/>
          <p:cNvSpPr/>
          <p:nvPr/>
        </p:nvSpPr>
        <p:spPr>
          <a:xfrm>
            <a:off x="1077039" y="4478655"/>
            <a:ext cx="3719989"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Precise sensor calibration ensures accurate data and reliable system performance in varied conditions.</a:t>
            </a:r>
            <a:endParaRPr lang="en-US" sz="1850" dirty="0"/>
          </a:p>
        </p:txBody>
      </p:sp>
      <p:sp>
        <p:nvSpPr>
          <p:cNvPr id="6" name="Shape 4"/>
          <p:cNvSpPr/>
          <p:nvPr/>
        </p:nvSpPr>
        <p:spPr>
          <a:xfrm>
            <a:off x="5215771" y="3145393"/>
            <a:ext cx="4198739" cy="239316"/>
          </a:xfrm>
          <a:prstGeom prst="roundRect">
            <a:avLst>
              <a:gd name="adj" fmla="val 42011"/>
            </a:avLst>
          </a:prstGeom>
          <a:solidFill>
            <a:srgbClr val="F0D4F7"/>
          </a:solidFill>
          <a:ln w="7620">
            <a:solidFill>
              <a:srgbClr val="D6BADD"/>
            </a:solidFill>
            <a:prstDash val="solid"/>
          </a:ln>
        </p:spPr>
        <p:txBody>
          <a:bodyPr/>
          <a:lstStyle/>
          <a:p>
            <a:endParaRPr lang="en-US"/>
          </a:p>
        </p:txBody>
      </p:sp>
      <p:sp>
        <p:nvSpPr>
          <p:cNvPr id="7" name="Text 5"/>
          <p:cNvSpPr/>
          <p:nvPr/>
        </p:nvSpPr>
        <p:spPr>
          <a:xfrm>
            <a:off x="5455087" y="3624024"/>
            <a:ext cx="3720108"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Shielded Connections Improve Stability</a:t>
            </a:r>
            <a:endParaRPr lang="en-US" sz="2200" dirty="0"/>
          </a:p>
        </p:txBody>
      </p:sp>
      <p:sp>
        <p:nvSpPr>
          <p:cNvPr id="8" name="Text 6"/>
          <p:cNvSpPr/>
          <p:nvPr/>
        </p:nvSpPr>
        <p:spPr>
          <a:xfrm>
            <a:off x="5455087" y="4471511"/>
            <a:ext cx="3720108" cy="1915120"/>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Implementing shielded wiring prevents electromagnetic interference and enhances data integrity in noisy industrial environments.</a:t>
            </a:r>
            <a:endParaRPr lang="en-US" sz="1850" dirty="0"/>
          </a:p>
        </p:txBody>
      </p:sp>
      <p:sp>
        <p:nvSpPr>
          <p:cNvPr id="9" name="Shape 7"/>
          <p:cNvSpPr/>
          <p:nvPr/>
        </p:nvSpPr>
        <p:spPr>
          <a:xfrm>
            <a:off x="9593937" y="2786420"/>
            <a:ext cx="4198739" cy="239316"/>
          </a:xfrm>
          <a:prstGeom prst="roundRect">
            <a:avLst>
              <a:gd name="adj" fmla="val 42011"/>
            </a:avLst>
          </a:prstGeom>
          <a:solidFill>
            <a:srgbClr val="F0D4F7"/>
          </a:solidFill>
          <a:ln w="7620">
            <a:solidFill>
              <a:srgbClr val="D6BADD"/>
            </a:solidFill>
            <a:prstDash val="solid"/>
          </a:ln>
        </p:spPr>
        <p:txBody>
          <a:bodyPr/>
          <a:lstStyle/>
          <a:p>
            <a:endParaRPr lang="en-US"/>
          </a:p>
        </p:txBody>
      </p:sp>
      <p:sp>
        <p:nvSpPr>
          <p:cNvPr id="10" name="Text 8"/>
          <p:cNvSpPr/>
          <p:nvPr/>
        </p:nvSpPr>
        <p:spPr>
          <a:xfrm>
            <a:off x="9833253" y="3265051"/>
            <a:ext cx="3720108"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Effective Teamwork Boosts Project Efficiency</a:t>
            </a:r>
            <a:endParaRPr lang="en-US" sz="2200" dirty="0"/>
          </a:p>
        </p:txBody>
      </p:sp>
      <p:sp>
        <p:nvSpPr>
          <p:cNvPr id="11" name="Text 9"/>
          <p:cNvSpPr/>
          <p:nvPr/>
        </p:nvSpPr>
        <p:spPr>
          <a:xfrm>
            <a:off x="9833253" y="4112538"/>
            <a:ext cx="3720108" cy="1532096"/>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Collaborative efforts among engineers and stakeholders were vital for smooth integration and rapid problem-solving.</a:t>
            </a:r>
            <a:endParaRPr lang="en-US" sz="1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37724" y="987266"/>
            <a:ext cx="6804779"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Key Research &amp; Guidelines</a:t>
            </a:r>
            <a:endParaRPr lang="en-US" sz="4400" dirty="0"/>
          </a:p>
        </p:txBody>
      </p:sp>
      <p:sp>
        <p:nvSpPr>
          <p:cNvPr id="3" name="Shape 1"/>
          <p:cNvSpPr/>
          <p:nvPr/>
        </p:nvSpPr>
        <p:spPr>
          <a:xfrm>
            <a:off x="837724" y="2170033"/>
            <a:ext cx="6357818" cy="2679740"/>
          </a:xfrm>
          <a:prstGeom prst="roundRect">
            <a:avLst>
              <a:gd name="adj" fmla="val 5460"/>
            </a:avLst>
          </a:prstGeom>
          <a:noFill/>
          <a:ln w="30480">
            <a:solidFill>
              <a:srgbClr val="5E98F1"/>
            </a:solidFill>
            <a:prstDash val="solid"/>
          </a:ln>
        </p:spPr>
        <p:txBody>
          <a:bodyPr/>
          <a:lstStyle/>
          <a:p>
            <a:endParaRPr lang="en-US"/>
          </a:p>
        </p:txBody>
      </p:sp>
      <p:sp>
        <p:nvSpPr>
          <p:cNvPr id="4" name="Shape 2"/>
          <p:cNvSpPr/>
          <p:nvPr/>
        </p:nvSpPr>
        <p:spPr>
          <a:xfrm>
            <a:off x="807244" y="2170033"/>
            <a:ext cx="121920" cy="2679740"/>
          </a:xfrm>
          <a:prstGeom prst="roundRect">
            <a:avLst>
              <a:gd name="adj" fmla="val 82464"/>
            </a:avLst>
          </a:prstGeom>
          <a:solidFill>
            <a:srgbClr val="5E98F1"/>
          </a:solidFill>
          <a:ln/>
        </p:spPr>
        <p:txBody>
          <a:bodyPr/>
          <a:lstStyle/>
          <a:p>
            <a:endParaRPr lang="en-US"/>
          </a:p>
        </p:txBody>
      </p:sp>
      <p:sp>
        <p:nvSpPr>
          <p:cNvPr id="5" name="Text 3"/>
          <p:cNvSpPr/>
          <p:nvPr/>
        </p:nvSpPr>
        <p:spPr>
          <a:xfrm>
            <a:off x="1198959" y="2439829"/>
            <a:ext cx="5726787"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Automatic Humidity and Temperature Controller</a:t>
            </a:r>
            <a:endParaRPr lang="en-US" sz="2200" dirty="0"/>
          </a:p>
        </p:txBody>
      </p:sp>
      <p:sp>
        <p:nvSpPr>
          <p:cNvPr id="6" name="Text 4"/>
          <p:cNvSpPr/>
          <p:nvPr/>
        </p:nvSpPr>
        <p:spPr>
          <a:xfrm>
            <a:off x="1198959" y="3287316"/>
            <a:ext cx="5726787"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Kavin, V. et al., _“Automatic Humidity and Temperature Controller for Textile Mills,”_ IJIRSET, 2019.</a:t>
            </a:r>
            <a:endParaRPr lang="en-US" sz="1850" dirty="0"/>
          </a:p>
        </p:txBody>
      </p:sp>
      <p:sp>
        <p:nvSpPr>
          <p:cNvPr id="7" name="Text 5"/>
          <p:cNvSpPr/>
          <p:nvPr/>
        </p:nvSpPr>
        <p:spPr>
          <a:xfrm>
            <a:off x="1198959" y="4196953"/>
            <a:ext cx="5726787" cy="383024"/>
          </a:xfrm>
          <a:prstGeom prst="rect">
            <a:avLst/>
          </a:prstGeom>
          <a:noFill/>
          <a:ln/>
        </p:spPr>
        <p:txBody>
          <a:bodyPr wrap="none" lIns="0" tIns="0" rIns="0" bIns="0" rtlCol="0" anchor="t"/>
          <a:lstStyle/>
          <a:p>
            <a:pPr marL="0" indent="0" algn="l">
              <a:lnSpc>
                <a:spcPts val="3000"/>
              </a:lnSpc>
              <a:buNone/>
            </a:pPr>
            <a:r>
              <a:rPr lang="en-US" sz="1850" u="sng" dirty="0">
                <a:solidFill>
                  <a:srgbClr val="BE49DF"/>
                </a:solidFill>
                <a:latin typeface="Source Sans Pro" pitchFamily="34" charset="0"/>
                <a:ea typeface="Source Sans Pro" pitchFamily="34" charset="-122"/>
                <a:cs typeface="Source Sans Pro" pitchFamily="34" charset="-120"/>
                <a:hlinkClick r:id="rId3">
                  <a:extLst>
                    <a:ext uri="{A12FA001-AC4F-418D-AE19-62706E023703}">
                      <ahyp:hlinkClr xmlns:ahyp="http://schemas.microsoft.com/office/drawing/2018/hyperlinkcolor" val="tx"/>
                    </a:ext>
                  </a:extLst>
                </a:hlinkClick>
              </a:rPr>
              <a:t>View Research</a:t>
            </a:r>
            <a:endParaRPr lang="en-US" sz="1850" dirty="0"/>
          </a:p>
        </p:txBody>
      </p:sp>
      <p:sp>
        <p:nvSpPr>
          <p:cNvPr id="8" name="Shape 6"/>
          <p:cNvSpPr/>
          <p:nvPr/>
        </p:nvSpPr>
        <p:spPr>
          <a:xfrm>
            <a:off x="7434858" y="2170033"/>
            <a:ext cx="6357818" cy="2679740"/>
          </a:xfrm>
          <a:prstGeom prst="roundRect">
            <a:avLst>
              <a:gd name="adj" fmla="val 5460"/>
            </a:avLst>
          </a:prstGeom>
          <a:noFill/>
          <a:ln w="30480">
            <a:solidFill>
              <a:srgbClr val="5CC97B"/>
            </a:solidFill>
            <a:prstDash val="solid"/>
          </a:ln>
        </p:spPr>
        <p:txBody>
          <a:bodyPr/>
          <a:lstStyle/>
          <a:p>
            <a:endParaRPr lang="en-US"/>
          </a:p>
        </p:txBody>
      </p:sp>
      <p:sp>
        <p:nvSpPr>
          <p:cNvPr id="9" name="Shape 7"/>
          <p:cNvSpPr/>
          <p:nvPr/>
        </p:nvSpPr>
        <p:spPr>
          <a:xfrm>
            <a:off x="7404378" y="2170033"/>
            <a:ext cx="121920" cy="2679740"/>
          </a:xfrm>
          <a:prstGeom prst="roundRect">
            <a:avLst>
              <a:gd name="adj" fmla="val 82464"/>
            </a:avLst>
          </a:prstGeom>
          <a:solidFill>
            <a:srgbClr val="5CC97B"/>
          </a:solidFill>
          <a:ln/>
        </p:spPr>
        <p:txBody>
          <a:bodyPr/>
          <a:lstStyle/>
          <a:p>
            <a:endParaRPr lang="en-US"/>
          </a:p>
        </p:txBody>
      </p:sp>
      <p:sp>
        <p:nvSpPr>
          <p:cNvPr id="10" name="Text 8"/>
          <p:cNvSpPr/>
          <p:nvPr/>
        </p:nvSpPr>
        <p:spPr>
          <a:xfrm>
            <a:off x="7796093" y="2439829"/>
            <a:ext cx="4777621"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Real-Time Environmental Monitoring</a:t>
            </a:r>
            <a:endParaRPr lang="en-US" sz="2200" dirty="0"/>
          </a:p>
        </p:txBody>
      </p:sp>
      <p:sp>
        <p:nvSpPr>
          <p:cNvPr id="11" name="Text 9"/>
          <p:cNvSpPr/>
          <p:nvPr/>
        </p:nvSpPr>
        <p:spPr>
          <a:xfrm>
            <a:off x="7796093" y="2935367"/>
            <a:ext cx="5726787"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Ramachandran, P. et al., _“Real-Time Environmental Monitoring in Textile Mills,”_ IJERT, 2020.</a:t>
            </a:r>
            <a:endParaRPr lang="en-US" sz="1850" dirty="0"/>
          </a:p>
        </p:txBody>
      </p:sp>
      <p:sp>
        <p:nvSpPr>
          <p:cNvPr id="12" name="Shape 10"/>
          <p:cNvSpPr/>
          <p:nvPr/>
        </p:nvSpPr>
        <p:spPr>
          <a:xfrm>
            <a:off x="837724" y="5089088"/>
            <a:ext cx="6357818" cy="2153126"/>
          </a:xfrm>
          <a:prstGeom prst="roundRect">
            <a:avLst>
              <a:gd name="adj" fmla="val 6795"/>
            </a:avLst>
          </a:prstGeom>
          <a:noFill/>
          <a:ln w="30480">
            <a:solidFill>
              <a:srgbClr val="F9D933"/>
            </a:solidFill>
            <a:prstDash val="solid"/>
          </a:ln>
        </p:spPr>
        <p:txBody>
          <a:bodyPr/>
          <a:lstStyle/>
          <a:p>
            <a:endParaRPr lang="en-US"/>
          </a:p>
        </p:txBody>
      </p:sp>
      <p:sp>
        <p:nvSpPr>
          <p:cNvPr id="13" name="Shape 11"/>
          <p:cNvSpPr/>
          <p:nvPr/>
        </p:nvSpPr>
        <p:spPr>
          <a:xfrm>
            <a:off x="807244" y="5089088"/>
            <a:ext cx="121920" cy="2153126"/>
          </a:xfrm>
          <a:prstGeom prst="roundRect">
            <a:avLst>
              <a:gd name="adj" fmla="val 82464"/>
            </a:avLst>
          </a:prstGeom>
          <a:solidFill>
            <a:srgbClr val="F9D933"/>
          </a:solidFill>
          <a:ln/>
        </p:spPr>
        <p:txBody>
          <a:bodyPr/>
          <a:lstStyle/>
          <a:p>
            <a:endParaRPr lang="en-US"/>
          </a:p>
        </p:txBody>
      </p:sp>
      <p:sp>
        <p:nvSpPr>
          <p:cNvPr id="14" name="Text 12"/>
          <p:cNvSpPr/>
          <p:nvPr/>
        </p:nvSpPr>
        <p:spPr>
          <a:xfrm>
            <a:off x="1198959" y="5358884"/>
            <a:ext cx="5726787"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Automated Safety Systems in Industrial Environments</a:t>
            </a:r>
            <a:endParaRPr lang="en-US" sz="2200" dirty="0"/>
          </a:p>
        </p:txBody>
      </p:sp>
      <p:sp>
        <p:nvSpPr>
          <p:cNvPr id="15" name="Text 13"/>
          <p:cNvSpPr/>
          <p:nvPr/>
        </p:nvSpPr>
        <p:spPr>
          <a:xfrm>
            <a:off x="1198959" y="6206371"/>
            <a:ext cx="5726787"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Sharma, R. et al., _“Automated Safety Systems in Industrial Environments,”_ IJSER, 2021.</a:t>
            </a:r>
            <a:endParaRPr lang="en-US" sz="1850" dirty="0"/>
          </a:p>
        </p:txBody>
      </p:sp>
      <p:sp>
        <p:nvSpPr>
          <p:cNvPr id="16" name="Shape 14"/>
          <p:cNvSpPr/>
          <p:nvPr/>
        </p:nvSpPr>
        <p:spPr>
          <a:xfrm>
            <a:off x="7434858" y="5089088"/>
            <a:ext cx="6357818" cy="2153126"/>
          </a:xfrm>
          <a:prstGeom prst="roundRect">
            <a:avLst>
              <a:gd name="adj" fmla="val 6795"/>
            </a:avLst>
          </a:prstGeom>
          <a:noFill/>
          <a:ln w="30480">
            <a:solidFill>
              <a:srgbClr val="F44444"/>
            </a:solidFill>
            <a:prstDash val="solid"/>
          </a:ln>
        </p:spPr>
        <p:txBody>
          <a:bodyPr/>
          <a:lstStyle/>
          <a:p>
            <a:endParaRPr lang="en-US"/>
          </a:p>
        </p:txBody>
      </p:sp>
      <p:sp>
        <p:nvSpPr>
          <p:cNvPr id="17" name="Shape 15"/>
          <p:cNvSpPr/>
          <p:nvPr/>
        </p:nvSpPr>
        <p:spPr>
          <a:xfrm>
            <a:off x="7404378" y="5089088"/>
            <a:ext cx="121920" cy="2153126"/>
          </a:xfrm>
          <a:prstGeom prst="roundRect">
            <a:avLst>
              <a:gd name="adj" fmla="val 82464"/>
            </a:avLst>
          </a:prstGeom>
          <a:solidFill>
            <a:srgbClr val="F44444"/>
          </a:solidFill>
          <a:ln/>
        </p:spPr>
        <p:txBody>
          <a:bodyPr/>
          <a:lstStyle/>
          <a:p>
            <a:endParaRPr lang="en-US"/>
          </a:p>
        </p:txBody>
      </p:sp>
      <p:sp>
        <p:nvSpPr>
          <p:cNvPr id="18" name="Text 16"/>
          <p:cNvSpPr/>
          <p:nvPr/>
        </p:nvSpPr>
        <p:spPr>
          <a:xfrm>
            <a:off x="7796093" y="5358884"/>
            <a:ext cx="5392817"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OSHA Guidelines for Textile Worker Safety</a:t>
            </a:r>
            <a:endParaRPr lang="en-US" sz="2200" dirty="0"/>
          </a:p>
        </p:txBody>
      </p:sp>
      <p:sp>
        <p:nvSpPr>
          <p:cNvPr id="19" name="Text 17"/>
          <p:cNvSpPr/>
          <p:nvPr/>
        </p:nvSpPr>
        <p:spPr>
          <a:xfrm>
            <a:off x="7796093" y="5854422"/>
            <a:ext cx="5726787"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OSHA Guidelines for Textile Worker Safety, 2018.</a:t>
            </a:r>
            <a:endParaRPr lang="en-US" sz="1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57118" y="594836"/>
            <a:ext cx="9820989" cy="636151"/>
          </a:xfrm>
          <a:prstGeom prst="rect">
            <a:avLst/>
          </a:prstGeom>
          <a:noFill/>
          <a:ln/>
        </p:spPr>
        <p:txBody>
          <a:bodyPr wrap="none" lIns="0" tIns="0" rIns="0" bIns="0" rtlCol="0" anchor="t"/>
          <a:lstStyle/>
          <a:p>
            <a:pPr marL="0" indent="0" algn="l">
              <a:lnSpc>
                <a:spcPts val="5000"/>
              </a:lnSpc>
              <a:buNone/>
            </a:pPr>
            <a:r>
              <a:rPr lang="en-US" sz="4000" dirty="0">
                <a:solidFill>
                  <a:srgbClr val="000000"/>
                </a:solidFill>
                <a:latin typeface="Source Serif Pro Semi Bold" pitchFamily="34" charset="0"/>
                <a:ea typeface="Source Serif Pro Semi Bold" pitchFamily="34" charset="-122"/>
                <a:cs typeface="Source Serif Pro Semi Bold" pitchFamily="34" charset="-120"/>
              </a:rPr>
              <a:t>Future Outlook: Innovation and Expansion</a:t>
            </a:r>
            <a:endParaRPr lang="en-US" sz="4000" dirty="0"/>
          </a:p>
        </p:txBody>
      </p:sp>
      <p:pic>
        <p:nvPicPr>
          <p:cNvPr id="3" name="Image 0" descr="preencoded.png"/>
          <p:cNvPicPr>
            <a:picLocks noChangeAspect="1"/>
          </p:cNvPicPr>
          <p:nvPr/>
        </p:nvPicPr>
        <p:blipFill>
          <a:blip r:embed="rId3"/>
          <a:stretch>
            <a:fillRect/>
          </a:stretch>
        </p:blipFill>
        <p:spPr>
          <a:xfrm>
            <a:off x="757118" y="1798796"/>
            <a:ext cx="6294239" cy="6294239"/>
          </a:xfrm>
          <a:prstGeom prst="rect">
            <a:avLst/>
          </a:prstGeom>
        </p:spPr>
      </p:pic>
      <p:sp>
        <p:nvSpPr>
          <p:cNvPr id="4" name="Text 1"/>
          <p:cNvSpPr/>
          <p:nvPr/>
        </p:nvSpPr>
        <p:spPr>
          <a:xfrm>
            <a:off x="7586663" y="1750100"/>
            <a:ext cx="6294239" cy="1038344"/>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We are continuously exploring advancements in sensor technology and AI-driven analytics to further enhance system capabilities. Our vision includes:</a:t>
            </a:r>
            <a:endParaRPr lang="en-US" sz="1700" dirty="0"/>
          </a:p>
        </p:txBody>
      </p:sp>
      <p:sp>
        <p:nvSpPr>
          <p:cNvPr id="5" name="Text 2"/>
          <p:cNvSpPr/>
          <p:nvPr/>
        </p:nvSpPr>
        <p:spPr>
          <a:xfrm>
            <a:off x="7586663" y="2983111"/>
            <a:ext cx="6294239" cy="346115"/>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72525"/>
                </a:solidFill>
                <a:latin typeface="Source Sans Pro" pitchFamily="34" charset="0"/>
                <a:ea typeface="Source Sans Pro" pitchFamily="34" charset="-122"/>
                <a:cs typeface="Source Sans Pro" pitchFamily="34" charset="-120"/>
              </a:rPr>
              <a:t>Integration with predictive maintenance platforms.</a:t>
            </a:r>
            <a:endParaRPr lang="en-US" sz="1700" dirty="0"/>
          </a:p>
        </p:txBody>
      </p:sp>
      <p:sp>
        <p:nvSpPr>
          <p:cNvPr id="6" name="Text 3"/>
          <p:cNvSpPr/>
          <p:nvPr/>
        </p:nvSpPr>
        <p:spPr>
          <a:xfrm>
            <a:off x="7586663" y="3404830"/>
            <a:ext cx="6294239" cy="346115"/>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72525"/>
                </a:solidFill>
                <a:latin typeface="Source Sans Pro" pitchFamily="34" charset="0"/>
                <a:ea typeface="Source Sans Pro" pitchFamily="34" charset="-122"/>
                <a:cs typeface="Source Sans Pro" pitchFamily="34" charset="-120"/>
              </a:rPr>
              <a:t>Expansion to other manufacturing sectors.</a:t>
            </a:r>
            <a:endParaRPr lang="en-US" sz="1700" dirty="0"/>
          </a:p>
        </p:txBody>
      </p:sp>
      <p:sp>
        <p:nvSpPr>
          <p:cNvPr id="7" name="Text 4"/>
          <p:cNvSpPr/>
          <p:nvPr/>
        </p:nvSpPr>
        <p:spPr>
          <a:xfrm>
            <a:off x="7586663" y="3826550"/>
            <a:ext cx="6294239" cy="346115"/>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72525"/>
                </a:solidFill>
                <a:latin typeface="Source Sans Pro" pitchFamily="34" charset="0"/>
                <a:ea typeface="Source Sans Pro" pitchFamily="34" charset="-122"/>
                <a:cs typeface="Source Sans Pro" pitchFamily="34" charset="-120"/>
              </a:rPr>
              <a:t>Enhanced data visualization and reporting.</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92160"/>
          </a:xfrm>
          <a:prstGeom prst="rect">
            <a:avLst/>
          </a:prstGeom>
        </p:spPr>
      </p:pic>
      <p:sp>
        <p:nvSpPr>
          <p:cNvPr id="3" name="Text 0"/>
          <p:cNvSpPr/>
          <p:nvPr/>
        </p:nvSpPr>
        <p:spPr>
          <a:xfrm>
            <a:off x="837724" y="4557951"/>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Thank You!</a:t>
            </a:r>
            <a:endParaRPr lang="en-US" sz="4400" dirty="0"/>
          </a:p>
        </p:txBody>
      </p:sp>
      <p:sp>
        <p:nvSpPr>
          <p:cNvPr id="4" name="Text 1"/>
          <p:cNvSpPr/>
          <p:nvPr/>
        </p:nvSpPr>
        <p:spPr>
          <a:xfrm>
            <a:off x="837724" y="5620941"/>
            <a:ext cx="12954952" cy="390644"/>
          </a:xfrm>
          <a:prstGeom prst="rect">
            <a:avLst/>
          </a:prstGeom>
          <a:noFill/>
          <a:ln/>
        </p:spPr>
        <p:txBody>
          <a:bodyPr wrap="none" lIns="0" tIns="0" rIns="0" bIns="0" rtlCol="0" anchor="t"/>
          <a:lstStyle/>
          <a:p>
            <a:pPr marL="0" indent="0" algn="l">
              <a:lnSpc>
                <a:spcPts val="3000"/>
              </a:lnSpc>
              <a:buNone/>
            </a:pPr>
            <a:r>
              <a:rPr lang="en-US" sz="1850" dirty="0">
                <a:solidFill>
                  <a:srgbClr val="000000"/>
                </a:solidFill>
                <a:latin typeface="Source Sans Pro" pitchFamily="34" charset="0"/>
                <a:ea typeface="Source Sans Pro" pitchFamily="34" charset="-122"/>
                <a:cs typeface="Source Sans Pro" pitchFamily="34" charset="-120"/>
              </a:rPr>
              <a:t>🙏</a:t>
            </a:r>
            <a:r>
              <a:rPr lang="en-US" sz="1850" dirty="0">
                <a:solidFill>
                  <a:srgbClr val="272525"/>
                </a:solidFill>
                <a:latin typeface="Source Sans Pro" pitchFamily="34" charset="0"/>
                <a:ea typeface="Source Sans Pro" pitchFamily="34" charset="-122"/>
                <a:cs typeface="Source Sans Pro" pitchFamily="34" charset="-120"/>
              </a:rPr>
              <a:t> We appreciate your time &amp; feedback!</a:t>
            </a:r>
            <a:endParaRPr lang="en-US" sz="1850" dirty="0"/>
          </a:p>
        </p:txBody>
      </p:sp>
      <p:sp>
        <p:nvSpPr>
          <p:cNvPr id="5" name="Text 2"/>
          <p:cNvSpPr/>
          <p:nvPr/>
        </p:nvSpPr>
        <p:spPr>
          <a:xfrm>
            <a:off x="837724" y="6280785"/>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Questions?</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1560</Words>
  <Application>Microsoft Office PowerPoint</Application>
  <PresentationFormat>Custom</PresentationFormat>
  <Paragraphs>223</Paragraphs>
  <Slides>23</Slides>
  <Notes>23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FIXED-TERM Kolisetty Jayanth (BGSW/PJ-ETA-P)</cp:lastModifiedBy>
  <cp:revision>6</cp:revision>
  <dcterms:created xsi:type="dcterms:W3CDTF">2025-07-14T11:27:21Z</dcterms:created>
  <dcterms:modified xsi:type="dcterms:W3CDTF">2025-08-28T08:17:09Z</dcterms:modified>
</cp:coreProperties>
</file>