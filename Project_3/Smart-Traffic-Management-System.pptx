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4630400" cy="8229600"/>
  <p:notesSz cx="8229600" cy="14630400"/>
  <p:embeddedFontLst>
    <p:embeddedFont>
      <p:font typeface="Host Grotesk Medium"/>
      <p:regular r:id="rId22"/>
    </p:embeddedFont>
    <p:embeddedFont>
      <p:font typeface="Host Grotesk Medium"/>
      <p:regular r:id="rId23"/>
    </p:embeddedFont>
    <p:embeddedFont>
      <p:font typeface="Host Grotesk Medium"/>
      <p:regular r:id="rId24"/>
    </p:embeddedFont>
    <p:embeddedFont>
      <p:font typeface="Host Grotesk Medium"/>
      <p:regular r:id="rId25"/>
    </p:embeddedFont>
    <p:embeddedFont>
      <p:font typeface="Roboto"/>
      <p:regular r:id="rId26"/>
    </p:embeddedFont>
    <p:embeddedFont>
      <p:font typeface="Roboto"/>
      <p:regular r:id="rId27"/>
    </p:embeddedFont>
    <p:embeddedFont>
      <p:font typeface="Roboto"/>
      <p:regular r:id="rId28"/>
    </p:embeddedFont>
    <p:embeddedFont>
      <p:font typeface="Roboto"/>
      <p:regular r:id="rId29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Relationship Id="rId22" Type="http://schemas.openxmlformats.org/officeDocument/2006/relationships/font" Target="fonts/font1.fntdata"/><Relationship Id="rId23" Type="http://schemas.openxmlformats.org/officeDocument/2006/relationships/font" Target="fonts/font2.fntdata"/><Relationship Id="rId24" Type="http://schemas.openxmlformats.org/officeDocument/2006/relationships/font" Target="fonts/font3.fntdata"/><Relationship Id="rId25" Type="http://schemas.openxmlformats.org/officeDocument/2006/relationships/font" Target="fonts/font4.fntdata"/><Relationship Id="rId26" Type="http://schemas.openxmlformats.org/officeDocument/2006/relationships/font" Target="fonts/font5.fntdata"/><Relationship Id="rId27" Type="http://schemas.openxmlformats.org/officeDocument/2006/relationships/font" Target="fonts/font6.fntdata"/><Relationship Id="rId28" Type="http://schemas.openxmlformats.org/officeDocument/2006/relationships/font" Target="fonts/font7.fntdata"/><Relationship Id="rId29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3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3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3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0-1.png"/><Relationship Id="rId3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1-1.png"/><Relationship Id="rId3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2-1.png"/><Relationship Id="rId3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3-1.png"/><Relationship Id="rId3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4-1.png"/><Relationship Id="rId3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5-1.png"/><Relationship Id="rId3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6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C7E0E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9F5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C7E0E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9F5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C7E0E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9F5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C7E0E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9F5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C7E0E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9F5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C7E0E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9F5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C7E0E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9F5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C7E0E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9F5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C7E0E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9F5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C7E0E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9F5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C7E0E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9F5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C7E0E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9F5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C7E0E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9F5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C7E0E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9F5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C7E0E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9F5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image" Target="../media/image-3-9.png"/><Relationship Id="rId10" Type="http://schemas.openxmlformats.org/officeDocument/2006/relationships/slideLayout" Target="../slideLayouts/slideLayout4.xml"/><Relationship Id="rId11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7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8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9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slideLayout" Target="../slideLayouts/slideLayout13.xml"/><Relationship Id="rId7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image" Target="../media/image-13-6.png"/><Relationship Id="rId7" Type="http://schemas.openxmlformats.org/officeDocument/2006/relationships/image" Target="../media/image-13-7.png"/><Relationship Id="rId8" Type="http://schemas.openxmlformats.org/officeDocument/2006/relationships/image" Target="../media/image-13-8.png"/><Relationship Id="rId9" Type="http://schemas.openxmlformats.org/officeDocument/2006/relationships/image" Target="../media/image-13-9.png"/><Relationship Id="rId10" Type="http://schemas.openxmlformats.org/officeDocument/2006/relationships/image" Target="../media/image-13-10.png"/><Relationship Id="rId11" Type="http://schemas.openxmlformats.org/officeDocument/2006/relationships/slideLayout" Target="../slideLayouts/slideLayout14.xml"/><Relationship Id="rId1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5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slideLayout" Target="../slideLayouts/slideLayout16.xml"/><Relationship Id="rId5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69680" y="0"/>
            <a:ext cx="576072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2895719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Smart Traffic Management System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4653439"/>
            <a:ext cx="7556421" cy="6803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Revolutionizing urban mobility through intelligent, sensor-driven traffic control.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243" y="765691"/>
            <a:ext cx="2743795" cy="3430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00"/>
              </a:lnSpc>
              <a:buNone/>
            </a:pPr>
            <a:r>
              <a:rPr lang="en-US" sz="21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The Problem</a:t>
            </a:r>
            <a:endParaRPr lang="en-US" sz="2150" dirty="0"/>
          </a:p>
        </p:txBody>
      </p:sp>
      <p:sp>
        <p:nvSpPr>
          <p:cNvPr id="3" name="Text 1"/>
          <p:cNvSpPr/>
          <p:nvPr/>
        </p:nvSpPr>
        <p:spPr>
          <a:xfrm>
            <a:off x="768191" y="1328142"/>
            <a:ext cx="13094018" cy="18933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7450"/>
              </a:lnSpc>
              <a:buNone/>
            </a:pPr>
            <a:r>
              <a:rPr lang="en-US" sz="59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Traffic Congestion: A Global Challenge</a:t>
            </a:r>
            <a:endParaRPr lang="en-US" sz="5950" dirty="0"/>
          </a:p>
        </p:txBody>
      </p:sp>
      <p:sp>
        <p:nvSpPr>
          <p:cNvPr id="4" name="Text 2"/>
          <p:cNvSpPr/>
          <p:nvPr/>
        </p:nvSpPr>
        <p:spPr>
          <a:xfrm>
            <a:off x="768191" y="3748207"/>
            <a:ext cx="6279237" cy="1317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Current urban traffic management largely relies on two outdated methods: </a:t>
            </a:r>
            <a:pPr algn="l" indent="0" marL="0">
              <a:lnSpc>
                <a:spcPts val="2550"/>
              </a:lnSpc>
              <a:buNone/>
            </a:pPr>
            <a:r>
              <a:rPr lang="en-US" sz="170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manual police intervention</a:t>
            </a:r>
            <a:pPr algn="l" indent="0" marL="0">
              <a:lnSpc>
                <a:spcPts val="255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and </a:t>
            </a:r>
            <a:pPr algn="l" indent="0" marL="0">
              <a:lnSpc>
                <a:spcPts val="2550"/>
              </a:lnSpc>
              <a:buNone/>
            </a:pPr>
            <a:r>
              <a:rPr lang="en-US" sz="170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fixed timer-based signals</a:t>
            </a:r>
            <a:pPr algn="l" indent="0" marL="0">
              <a:lnSpc>
                <a:spcPts val="255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 Both approaches are inherently inefficient and contribute significantly to widespread urban issues.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768191" y="5263039"/>
            <a:ext cx="6279237" cy="6586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550"/>
              </a:lnSpc>
              <a:buSzPct val="100000"/>
              <a:buChar char="•"/>
            </a:pPr>
            <a:r>
              <a:rPr lang="en-US" sz="170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Manual Control:</a:t>
            </a:r>
            <a:pPr algn="l" indent="0" marL="0">
              <a:lnSpc>
                <a:spcPts val="255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Inconsistent, resource-intensive, and prone to human error.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768191" y="5998488"/>
            <a:ext cx="6279237" cy="6586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550"/>
              </a:lnSpc>
              <a:buSzPct val="100000"/>
              <a:buChar char="•"/>
            </a:pPr>
            <a:r>
              <a:rPr lang="en-US" sz="170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Fixed Timers:</a:t>
            </a:r>
            <a:pPr algn="l" indent="0" marL="0">
              <a:lnSpc>
                <a:spcPts val="255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Unable to adapt to real-time traffic flow, leading to unnecessary delays and inefficient light cycles.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590592" y="3748207"/>
            <a:ext cx="6279237" cy="3293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These inefficiencies manifest in critical problems: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7590592" y="4275058"/>
            <a:ext cx="6279237" cy="6586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550"/>
              </a:lnSpc>
              <a:buSzPct val="100000"/>
              <a:buChar char="•"/>
            </a:pPr>
            <a:r>
              <a:rPr lang="en-US" sz="170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Severe Congestion:</a:t>
            </a:r>
            <a:pPr algn="l" indent="0" marL="0">
              <a:lnSpc>
                <a:spcPts val="255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Increased travel times and productivity loss.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7590592" y="5010507"/>
            <a:ext cx="6279237" cy="6586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550"/>
              </a:lnSpc>
              <a:buSzPct val="100000"/>
              <a:buChar char="•"/>
            </a:pPr>
            <a:r>
              <a:rPr lang="en-US" sz="170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Wasted Resources:</a:t>
            </a:r>
            <a:pPr algn="l" indent="0" marL="0">
              <a:lnSpc>
                <a:spcPts val="255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Excessive fuel consumption and increased vehicle wear.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7590592" y="5745956"/>
            <a:ext cx="6279237" cy="6586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550"/>
              </a:lnSpc>
              <a:buSzPct val="100000"/>
              <a:buChar char="•"/>
            </a:pPr>
            <a:r>
              <a:rPr lang="en-US" sz="170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Environmental Pollution:</a:t>
            </a:r>
            <a:pPr algn="l" indent="0" marL="0">
              <a:lnSpc>
                <a:spcPts val="255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Higher emissions from idling vehicles.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7590592" y="6481405"/>
            <a:ext cx="6279237" cy="3293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550"/>
              </a:lnSpc>
              <a:buSzPct val="100000"/>
              <a:buChar char="•"/>
            </a:pPr>
            <a:r>
              <a:rPr lang="en-US" sz="170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Economic Impact:</a:t>
            </a:r>
            <a:pPr algn="l" indent="0" marL="0">
              <a:lnSpc>
                <a:spcPts val="255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Billions lost annually due to traffic delays.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768191" y="7134463"/>
            <a:ext cx="13094018" cy="3293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55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We need an adaptive, sensor-based automated control system to alleviate these pressing issues.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97523" y="84224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Our Solution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2155508" y="1423392"/>
            <a:ext cx="10319385" cy="9782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7700"/>
              </a:lnSpc>
              <a:buNone/>
            </a:pPr>
            <a:r>
              <a:rPr lang="en-US" sz="61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Dynamic Traffic Optimization</a:t>
            </a:r>
            <a:endParaRPr lang="en-US" sz="6150" dirty="0"/>
          </a:p>
        </p:txBody>
      </p:sp>
      <p:sp>
        <p:nvSpPr>
          <p:cNvPr id="4" name="Text 2"/>
          <p:cNvSpPr/>
          <p:nvPr/>
        </p:nvSpPr>
        <p:spPr>
          <a:xfrm>
            <a:off x="793790" y="2741771"/>
            <a:ext cx="13042821" cy="10204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Our objective is to design and implement a smart traffic management system that addresses the core limitations of existing solutions. This system will leverage advanced sensing and embedded processing to create a truly responsive and efficient traffic network.</a:t>
            </a:r>
            <a:endParaRPr lang="en-US" sz="1750" dirty="0"/>
          </a:p>
        </p:txBody>
      </p:sp>
      <p:sp>
        <p:nvSpPr>
          <p:cNvPr id="5" name="Shape 3"/>
          <p:cNvSpPr/>
          <p:nvPr/>
        </p:nvSpPr>
        <p:spPr>
          <a:xfrm>
            <a:off x="793790" y="4357568"/>
            <a:ext cx="4196358" cy="3029664"/>
          </a:xfrm>
          <a:prstGeom prst="roundRect">
            <a:avLst>
              <a:gd name="adj" fmla="val 4829"/>
            </a:avLst>
          </a:prstGeom>
          <a:solidFill>
            <a:srgbClr val="FAF9F5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3790" y="4327088"/>
            <a:ext cx="4196358" cy="121920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1688" y="4017407"/>
            <a:ext cx="680442" cy="680442"/>
          </a:xfrm>
          <a:prstGeom prst="rect">
            <a:avLst/>
          </a:prstGeom>
        </p:spPr>
      </p:pic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55761" y="4187547"/>
            <a:ext cx="272177" cy="340162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051084" y="4924544"/>
            <a:ext cx="3596521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Real-time Vehicle Detection</a:t>
            </a:r>
            <a:endParaRPr lang="en-US" sz="2200" dirty="0"/>
          </a:p>
        </p:txBody>
      </p:sp>
      <p:sp>
        <p:nvSpPr>
          <p:cNvPr id="10" name="Text 5"/>
          <p:cNvSpPr/>
          <p:nvPr/>
        </p:nvSpPr>
        <p:spPr>
          <a:xfrm>
            <a:off x="1051084" y="5414963"/>
            <a:ext cx="3681770" cy="13606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Utilize </a:t>
            </a:r>
            <a:pPr algn="l" indent="0" marL="0">
              <a:lnSpc>
                <a:spcPts val="2650"/>
              </a:lnSpc>
              <a:buNone/>
            </a:pPr>
            <a:r>
              <a:rPr lang="en-US" sz="175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ultrasonic sensors</a:t>
            </a:r>
            <a:pPr algn="l" indent="0" marL="0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to precisely detect vehicle presence and density in each lane, providing accurate, instantaneous data.</a:t>
            </a:r>
            <a:endParaRPr lang="en-US" sz="1750" dirty="0"/>
          </a:p>
        </p:txBody>
      </p:sp>
      <p:sp>
        <p:nvSpPr>
          <p:cNvPr id="11" name="Shape 6"/>
          <p:cNvSpPr/>
          <p:nvPr/>
        </p:nvSpPr>
        <p:spPr>
          <a:xfrm>
            <a:off x="5216962" y="4357568"/>
            <a:ext cx="4196358" cy="3029664"/>
          </a:xfrm>
          <a:prstGeom prst="roundRect">
            <a:avLst>
              <a:gd name="adj" fmla="val 4829"/>
            </a:avLst>
          </a:prstGeom>
          <a:solidFill>
            <a:srgbClr val="FAF9F5"/>
          </a:solidFill>
          <a:ln/>
        </p:spPr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16962" y="4327088"/>
            <a:ext cx="4196358" cy="121920"/>
          </a:xfrm>
          <a:prstGeom prst="rect">
            <a:avLst/>
          </a:prstGeom>
        </p:spPr>
      </p:pic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74860" y="4017407"/>
            <a:ext cx="680442" cy="680442"/>
          </a:xfrm>
          <a:prstGeom prst="rect">
            <a:avLst/>
          </a:prstGeom>
        </p:spPr>
      </p:pic>
      <p:pic>
        <p:nvPicPr>
          <p:cNvPr id="1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78933" y="4187547"/>
            <a:ext cx="272177" cy="340162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>
            <a:off x="5474256" y="4924544"/>
            <a:ext cx="368177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Dynamic Traffic Light Control</a:t>
            </a:r>
            <a:endParaRPr lang="en-US" sz="2200" dirty="0"/>
          </a:p>
        </p:txBody>
      </p:sp>
      <p:sp>
        <p:nvSpPr>
          <p:cNvPr id="16" name="Text 8"/>
          <p:cNvSpPr/>
          <p:nvPr/>
        </p:nvSpPr>
        <p:spPr>
          <a:xfrm>
            <a:off x="5474256" y="5769293"/>
            <a:ext cx="3681770" cy="13606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Algorithmically adjust traffic light timings based on live sensor data, optimizing flow and minimizing idle times.</a:t>
            </a:r>
            <a:endParaRPr lang="en-US" sz="1750" dirty="0"/>
          </a:p>
        </p:txBody>
      </p:sp>
      <p:sp>
        <p:nvSpPr>
          <p:cNvPr id="17" name="Shape 9"/>
          <p:cNvSpPr/>
          <p:nvPr/>
        </p:nvSpPr>
        <p:spPr>
          <a:xfrm>
            <a:off x="9640133" y="4357568"/>
            <a:ext cx="4196358" cy="3029664"/>
          </a:xfrm>
          <a:prstGeom prst="roundRect">
            <a:avLst>
              <a:gd name="adj" fmla="val 4829"/>
            </a:avLst>
          </a:prstGeom>
          <a:solidFill>
            <a:srgbClr val="FAF9F5"/>
          </a:solidFill>
          <a:ln/>
        </p:spPr>
      </p:sp>
      <p:pic>
        <p:nvPicPr>
          <p:cNvPr id="1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40133" y="4327088"/>
            <a:ext cx="4196358" cy="121920"/>
          </a:xfrm>
          <a:prstGeom prst="rect">
            <a:avLst/>
          </a:prstGeom>
        </p:spPr>
      </p:pic>
      <p:pic>
        <p:nvPicPr>
          <p:cNvPr id="1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398032" y="4017407"/>
            <a:ext cx="680442" cy="680442"/>
          </a:xfrm>
          <a:prstGeom prst="rect">
            <a:avLst/>
          </a:prstGeom>
        </p:spPr>
      </p:pic>
      <p:pic>
        <p:nvPicPr>
          <p:cNvPr id="2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602105" y="4187547"/>
            <a:ext cx="272177" cy="340162"/>
          </a:xfrm>
          <a:prstGeom prst="rect">
            <a:avLst/>
          </a:prstGeom>
        </p:spPr>
      </p:pic>
      <p:sp>
        <p:nvSpPr>
          <p:cNvPr id="21" name="Text 10"/>
          <p:cNvSpPr/>
          <p:nvPr/>
        </p:nvSpPr>
        <p:spPr>
          <a:xfrm>
            <a:off x="9897427" y="4924544"/>
            <a:ext cx="341185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Robust Embedded Control</a:t>
            </a:r>
            <a:endParaRPr lang="en-US" sz="2200" dirty="0"/>
          </a:p>
        </p:txBody>
      </p:sp>
      <p:sp>
        <p:nvSpPr>
          <p:cNvPr id="22" name="Text 11"/>
          <p:cNvSpPr/>
          <p:nvPr/>
        </p:nvSpPr>
        <p:spPr>
          <a:xfrm>
            <a:off x="9897427" y="5414963"/>
            <a:ext cx="3681770" cy="1700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Employ the </a:t>
            </a:r>
            <a:pPr algn="l" indent="0" marL="0">
              <a:lnSpc>
                <a:spcPts val="2650"/>
              </a:lnSpc>
              <a:buNone/>
            </a:pPr>
            <a:r>
              <a:rPr lang="en-US" sz="175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STM32F405RGT6 microcontroller</a:t>
            </a:r>
            <a:pPr algn="l" indent="0" marL="0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as the central processing unit, ensuring reliable and high-performance system operation.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35717" y="773549"/>
            <a:ext cx="3158847" cy="3459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00"/>
              </a:lnSpc>
              <a:buNone/>
            </a:pPr>
            <a:r>
              <a:rPr lang="en-US" sz="21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Background &amp; Innovation</a:t>
            </a:r>
            <a:endParaRPr lang="en-US" sz="2150" dirty="0"/>
          </a:p>
        </p:txBody>
      </p:sp>
      <p:sp>
        <p:nvSpPr>
          <p:cNvPr id="3" name="Text 1"/>
          <p:cNvSpPr/>
          <p:nvPr/>
        </p:nvSpPr>
        <p:spPr>
          <a:xfrm>
            <a:off x="1434822" y="1341001"/>
            <a:ext cx="11760637" cy="9551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7500"/>
              </a:lnSpc>
              <a:buNone/>
            </a:pPr>
            <a:r>
              <a:rPr lang="en-US" sz="600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Beyond Conventional Approaches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775216" y="2628305"/>
            <a:ext cx="13079968" cy="6643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Our research involved an in-depth analysis of existing smart traffic solutions and academic literature. While the field is evolving, a critical gap remains that our system aims to address.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775216" y="3763208"/>
            <a:ext cx="4687848" cy="4151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250"/>
              </a:lnSpc>
              <a:buNone/>
            </a:pPr>
            <a:r>
              <a:rPr lang="en-US" sz="260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Current Trends in Smart Traffic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775216" y="4399836"/>
            <a:ext cx="6269831" cy="3321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7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IoT-based Traffic Systems (</a:t>
            </a:r>
            <a:pPr algn="l" indent="0" marL="0">
              <a:lnSpc>
                <a:spcPts val="2600"/>
              </a:lnSpc>
              <a:buNone/>
            </a:pPr>
            <a:r>
              <a:rPr lang="en-US" sz="1700" i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Ref: IEEE Xplore, 2023</a:t>
            </a:r>
            <a:pPr algn="l" indent="0" marL="0">
              <a:lnSpc>
                <a:spcPts val="26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)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75216" y="4809530"/>
            <a:ext cx="6269831" cy="3321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7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AI-driven Adaptive Traffic Management (</a:t>
            </a:r>
            <a:pPr algn="l" indent="0" marL="0">
              <a:lnSpc>
                <a:spcPts val="2600"/>
              </a:lnSpc>
              <a:buNone/>
            </a:pPr>
            <a:r>
              <a:rPr lang="en-US" sz="1700" i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Springer, 2022</a:t>
            </a:r>
            <a:pPr algn="l" indent="0" marL="0">
              <a:lnSpc>
                <a:spcPts val="26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)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775216" y="5219224"/>
            <a:ext cx="6269831" cy="3321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7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Sensor-based Signal Manipulation (</a:t>
            </a:r>
            <a:pPr algn="l" indent="0" marL="0">
              <a:lnSpc>
                <a:spcPts val="2600"/>
              </a:lnSpc>
              <a:buNone/>
            </a:pPr>
            <a:r>
              <a:rPr lang="en-US" sz="1700" i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MDPI, 2024</a:t>
            </a:r>
            <a:pPr algn="l" indent="0" marL="0">
              <a:lnSpc>
                <a:spcPts val="26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)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775216" y="5750719"/>
            <a:ext cx="6269831" cy="6643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Many cutting-edge solutions predominantly rely on </a:t>
            </a:r>
            <a:pPr algn="l" indent="0" marL="0">
              <a:lnSpc>
                <a:spcPts val="2600"/>
              </a:lnSpc>
              <a:buNone/>
            </a:pPr>
            <a:r>
              <a:rPr lang="en-US" sz="170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camera and AI technologies</a:t>
            </a:r>
            <a:pPr algn="l" indent="0" marL="0">
              <a:lnSpc>
                <a:spcPts val="26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for vehicle detection and analysis.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7592973" y="3763208"/>
            <a:ext cx="3322320" cy="4151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250"/>
              </a:lnSpc>
              <a:buNone/>
            </a:pPr>
            <a:r>
              <a:rPr lang="en-US" sz="260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The Cost Barrier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7592973" y="4399836"/>
            <a:ext cx="6269831" cy="16609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While effective, camera and AI-based systems often come with a </a:t>
            </a:r>
            <a:pPr algn="l" indent="0" marL="0">
              <a:lnSpc>
                <a:spcPts val="2600"/>
              </a:lnSpc>
              <a:buNone/>
            </a:pPr>
            <a:r>
              <a:rPr lang="en-US" sz="170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prohibitive cost</a:t>
            </a:r>
            <a:pPr algn="l" indent="0" marL="0">
              <a:lnSpc>
                <a:spcPts val="26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due to high-resolution cameras, powerful processing units, and complex AI model training. This limits their widespread adoption, especially in resource-constrained environments.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7592973" y="6260068"/>
            <a:ext cx="6269831" cy="9965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Our proposed system provides a </a:t>
            </a:r>
            <a:pPr algn="l" indent="0" marL="0">
              <a:lnSpc>
                <a:spcPts val="2600"/>
              </a:lnSpc>
              <a:buNone/>
            </a:pPr>
            <a:r>
              <a:rPr lang="en-US" sz="1700" b="1" dirty="0">
                <a:solidFill>
                  <a:srgbClr val="384653"/>
                </a:solidFill>
                <a:highlight>
                  <a:srgbClr val="95CCDA"/>
                </a:highlight>
                <a:latin typeface="Roboto" pitchFamily="34" charset="0"/>
                <a:ea typeface="Roboto" pitchFamily="34" charset="-122"/>
                <a:cs typeface="Roboto" pitchFamily="34" charset="-120"/>
              </a:rPr>
              <a:t>low-cost ultrasonic sensor</a:t>
            </a:r>
            <a:pPr algn="l" indent="0" marL="0">
              <a:lnSpc>
                <a:spcPts val="26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alternative, offering a scalable and economically viable solution without compromising on adaptive control capabilities.</a:t>
            </a:r>
            <a:endParaRPr lang="en-US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7680960" cy="823281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460587" y="482560"/>
            <a:ext cx="3024426" cy="2740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150"/>
              </a:lnSpc>
              <a:buNone/>
            </a:pPr>
            <a:r>
              <a:rPr lang="en-US" sz="170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System Architecture Overview</a:t>
            </a:r>
            <a:endParaRPr lang="en-US" sz="1700" dirty="0"/>
          </a:p>
        </p:txBody>
      </p:sp>
      <p:sp>
        <p:nvSpPr>
          <p:cNvPr id="4" name="Text 1"/>
          <p:cNvSpPr/>
          <p:nvPr/>
        </p:nvSpPr>
        <p:spPr>
          <a:xfrm>
            <a:off x="7929324" y="932021"/>
            <a:ext cx="6086951" cy="15135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5950"/>
              </a:lnSpc>
              <a:buNone/>
            </a:pPr>
            <a:r>
              <a:rPr lang="en-US" sz="47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Integrated Hardware &amp; Software</a:t>
            </a:r>
            <a:endParaRPr lang="en-US" sz="4750" dirty="0"/>
          </a:p>
        </p:txBody>
      </p:sp>
      <p:sp>
        <p:nvSpPr>
          <p:cNvPr id="5" name="Shape 2"/>
          <p:cNvSpPr/>
          <p:nvPr/>
        </p:nvSpPr>
        <p:spPr>
          <a:xfrm>
            <a:off x="7929324" y="2708672"/>
            <a:ext cx="6086951" cy="5041583"/>
          </a:xfrm>
          <a:prstGeom prst="roundRect">
            <a:avLst>
              <a:gd name="adj" fmla="val 1462"/>
            </a:avLst>
          </a:prstGeom>
          <a:solidFill>
            <a:srgbClr val="D9EDF2"/>
          </a:solidFill>
          <a:ln w="7620">
            <a:solidFill>
              <a:srgbClr val="BFD3D8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936944" y="2716292"/>
            <a:ext cx="6071711" cy="1256586"/>
          </a:xfrm>
          <a:prstGeom prst="roundRect">
            <a:avLst>
              <a:gd name="adj" fmla="val 5866"/>
            </a:avLst>
          </a:prstGeom>
          <a:solidFill>
            <a:srgbClr val="D9EDF2"/>
          </a:solidFill>
          <a:ln/>
        </p:spPr>
      </p:sp>
      <p:sp>
        <p:nvSpPr>
          <p:cNvPr id="7" name="Text 4"/>
          <p:cNvSpPr/>
          <p:nvPr/>
        </p:nvSpPr>
        <p:spPr>
          <a:xfrm>
            <a:off x="8112323" y="2891671"/>
            <a:ext cx="2193608" cy="2740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Inputs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8112323" y="3271004"/>
            <a:ext cx="5720953" cy="5264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3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Ultrasonic Sensors (</a:t>
            </a:r>
            <a:pPr algn="l" indent="0" marL="0">
              <a:lnSpc>
                <a:spcPts val="2050"/>
              </a:lnSpc>
              <a:buNone/>
            </a:pPr>
            <a:r>
              <a:rPr lang="en-US" sz="135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HCSR04</a:t>
            </a:r>
            <a:pPr algn="l" indent="0" marL="0">
              <a:lnSpc>
                <a:spcPts val="2050"/>
              </a:lnSpc>
              <a:buNone/>
            </a:pPr>
            <a:r>
              <a:rPr lang="en-US" sz="13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) strategically placed on each lane for accurate presence detection.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7936944" y="3972878"/>
            <a:ext cx="6071711" cy="1256586"/>
          </a:xfrm>
          <a:prstGeom prst="rect">
            <a:avLst/>
          </a:prstGeom>
          <a:solidFill>
            <a:srgbClr val="D9EDF2"/>
          </a:solidFill>
          <a:ln/>
        </p:spPr>
      </p:sp>
      <p:sp>
        <p:nvSpPr>
          <p:cNvPr id="10" name="Shape 7"/>
          <p:cNvSpPr/>
          <p:nvPr/>
        </p:nvSpPr>
        <p:spPr>
          <a:xfrm>
            <a:off x="7936944" y="3972878"/>
            <a:ext cx="6071711" cy="22860"/>
          </a:xfrm>
          <a:prstGeom prst="roundRect">
            <a:avLst>
              <a:gd name="adj" fmla="val 322434"/>
            </a:avLst>
          </a:prstGeom>
          <a:solidFill>
            <a:srgbClr val="BFD3D8"/>
          </a:solidFill>
          <a:ln/>
        </p:spPr>
      </p:sp>
      <p:sp>
        <p:nvSpPr>
          <p:cNvPr id="11" name="Text 8"/>
          <p:cNvSpPr/>
          <p:nvPr/>
        </p:nvSpPr>
        <p:spPr>
          <a:xfrm>
            <a:off x="8112323" y="4148257"/>
            <a:ext cx="2193608" cy="2740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Processor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8112323" y="4527590"/>
            <a:ext cx="5720953" cy="5264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35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STM32F405RGT6 microcontroller</a:t>
            </a:r>
            <a:pPr algn="l" indent="0" marL="0">
              <a:lnSpc>
                <a:spcPts val="2050"/>
              </a:lnSpc>
              <a:buNone/>
            </a:pPr>
            <a:r>
              <a:rPr lang="en-US" sz="13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, the brain of the system, responsible for real-time data processing and decision-making.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7936944" y="5229463"/>
            <a:ext cx="6071711" cy="1256586"/>
          </a:xfrm>
          <a:prstGeom prst="rect">
            <a:avLst/>
          </a:prstGeom>
          <a:solidFill>
            <a:srgbClr val="D9EDF2"/>
          </a:solidFill>
          <a:ln/>
        </p:spPr>
      </p:sp>
      <p:sp>
        <p:nvSpPr>
          <p:cNvPr id="14" name="Shape 11"/>
          <p:cNvSpPr/>
          <p:nvPr/>
        </p:nvSpPr>
        <p:spPr>
          <a:xfrm>
            <a:off x="7936944" y="5229463"/>
            <a:ext cx="6071711" cy="22860"/>
          </a:xfrm>
          <a:prstGeom prst="roundRect">
            <a:avLst>
              <a:gd name="adj" fmla="val 322434"/>
            </a:avLst>
          </a:prstGeom>
          <a:solidFill>
            <a:srgbClr val="BFD3D8"/>
          </a:solidFill>
          <a:ln/>
        </p:spPr>
      </p:sp>
      <p:sp>
        <p:nvSpPr>
          <p:cNvPr id="15" name="Text 12"/>
          <p:cNvSpPr/>
          <p:nvPr/>
        </p:nvSpPr>
        <p:spPr>
          <a:xfrm>
            <a:off x="8112323" y="5404842"/>
            <a:ext cx="2193608" cy="2740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Outputs</a:t>
            </a:r>
            <a:endParaRPr lang="en-US" sz="1700" dirty="0"/>
          </a:p>
        </p:txBody>
      </p:sp>
      <p:sp>
        <p:nvSpPr>
          <p:cNvPr id="16" name="Text 13"/>
          <p:cNvSpPr/>
          <p:nvPr/>
        </p:nvSpPr>
        <p:spPr>
          <a:xfrm>
            <a:off x="8112323" y="5784175"/>
            <a:ext cx="5720953" cy="5264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3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Standard </a:t>
            </a:r>
            <a:pPr algn="l" indent="0" marL="0">
              <a:lnSpc>
                <a:spcPts val="2050"/>
              </a:lnSpc>
              <a:buNone/>
            </a:pPr>
            <a:r>
              <a:rPr lang="en-US" sz="135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LED Traffic Lights</a:t>
            </a:r>
            <a:pPr algn="l" indent="0" marL="0">
              <a:lnSpc>
                <a:spcPts val="2050"/>
              </a:lnSpc>
              <a:buNone/>
            </a:pPr>
            <a:r>
              <a:rPr lang="en-US" sz="13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(Red, Yellow, Green) for visual signaling to drivers.</a:t>
            </a:r>
            <a:endParaRPr lang="en-US" sz="1350" dirty="0"/>
          </a:p>
        </p:txBody>
      </p:sp>
      <p:sp>
        <p:nvSpPr>
          <p:cNvPr id="17" name="Shape 14"/>
          <p:cNvSpPr/>
          <p:nvPr/>
        </p:nvSpPr>
        <p:spPr>
          <a:xfrm>
            <a:off x="7936944" y="6486049"/>
            <a:ext cx="6071711" cy="1256586"/>
          </a:xfrm>
          <a:prstGeom prst="rect">
            <a:avLst/>
          </a:prstGeom>
          <a:solidFill>
            <a:srgbClr val="D9EDF2"/>
          </a:solidFill>
          <a:ln/>
        </p:spPr>
      </p:sp>
      <p:sp>
        <p:nvSpPr>
          <p:cNvPr id="18" name="Shape 15"/>
          <p:cNvSpPr/>
          <p:nvPr/>
        </p:nvSpPr>
        <p:spPr>
          <a:xfrm>
            <a:off x="7936944" y="6486049"/>
            <a:ext cx="6071711" cy="22860"/>
          </a:xfrm>
          <a:prstGeom prst="roundRect">
            <a:avLst>
              <a:gd name="adj" fmla="val 322434"/>
            </a:avLst>
          </a:prstGeom>
          <a:solidFill>
            <a:srgbClr val="BFD3D8"/>
          </a:solidFill>
          <a:ln/>
        </p:spPr>
      </p:sp>
      <p:sp>
        <p:nvSpPr>
          <p:cNvPr id="19" name="Text 16"/>
          <p:cNvSpPr/>
          <p:nvPr/>
        </p:nvSpPr>
        <p:spPr>
          <a:xfrm>
            <a:off x="8112323" y="6661428"/>
            <a:ext cx="2193608" cy="2740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Control &amp; Timing</a:t>
            </a:r>
            <a:endParaRPr lang="en-US" sz="1700" dirty="0"/>
          </a:p>
        </p:txBody>
      </p:sp>
      <p:sp>
        <p:nvSpPr>
          <p:cNvPr id="20" name="Text 17"/>
          <p:cNvSpPr/>
          <p:nvPr/>
        </p:nvSpPr>
        <p:spPr>
          <a:xfrm>
            <a:off x="8112323" y="7040761"/>
            <a:ext cx="5720953" cy="5264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3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Custom </a:t>
            </a:r>
            <a:pPr algn="l" indent="0" marL="0">
              <a:lnSpc>
                <a:spcPts val="2050"/>
              </a:lnSpc>
              <a:buNone/>
            </a:pPr>
            <a:r>
              <a:rPr lang="en-US" sz="135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Dynamic Priority Assignment</a:t>
            </a:r>
            <a:pPr algn="l" indent="0" marL="0">
              <a:lnSpc>
                <a:spcPts val="2050"/>
              </a:lnSpc>
              <a:buNone/>
            </a:pPr>
            <a:r>
              <a:rPr lang="en-US" sz="13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algorithm and </a:t>
            </a:r>
            <a:pPr algn="l" indent="0" marL="0">
              <a:lnSpc>
                <a:spcPts val="2050"/>
              </a:lnSpc>
              <a:buNone/>
            </a:pPr>
            <a:r>
              <a:rPr lang="en-US" sz="135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RCC/TIM2</a:t>
            </a:r>
            <a:pPr algn="l" indent="0" marL="0">
              <a:lnSpc>
                <a:spcPts val="2050"/>
              </a:lnSpc>
              <a:buNone/>
            </a:pPr>
            <a:r>
              <a:rPr lang="en-US" sz="13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for precise timing and reliable operation.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391632" y="311825"/>
            <a:ext cx="1847136" cy="177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110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Core Hardware Components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649867" y="602337"/>
            <a:ext cx="5330666" cy="4889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3850"/>
              </a:lnSpc>
              <a:buNone/>
            </a:pPr>
            <a:r>
              <a:rPr lang="en-US" sz="30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Robust and Efficient Selection</a:t>
            </a:r>
            <a:endParaRPr lang="en-US" sz="3050" dirty="0"/>
          </a:p>
        </p:txBody>
      </p:sp>
      <p:sp>
        <p:nvSpPr>
          <p:cNvPr id="4" name="Text 2"/>
          <p:cNvSpPr/>
          <p:nvPr/>
        </p:nvSpPr>
        <p:spPr>
          <a:xfrm>
            <a:off x="396835" y="1261348"/>
            <a:ext cx="13836729" cy="1701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selection of hardware components is critical for the system's performance, reliability, and cost-effectiveness. We've chosen industry- and education-standard components known for their capabilities and ease of integration.</a:t>
            </a:r>
            <a:endParaRPr lang="en-US" sz="8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6835" y="1686520"/>
            <a:ext cx="6780014" cy="678001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96835" y="8594050"/>
            <a:ext cx="2629614" cy="2126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30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STM32F405RGT6 Microcontroller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396835" y="8920043"/>
            <a:ext cx="6780014" cy="1701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300"/>
              </a:lnSpc>
              <a:buSzPct val="100000"/>
              <a:buChar char="•"/>
            </a:pPr>
            <a:r>
              <a:rPr lang="en-US" sz="85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Processor:</a:t>
            </a:r>
            <a:pPr algn="l"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ARM Cortex-M4 @ 168 MHz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396835" y="9129832"/>
            <a:ext cx="6780014" cy="1701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300"/>
              </a:lnSpc>
              <a:buSzPct val="100000"/>
              <a:buChar char="•"/>
            </a:pPr>
            <a:r>
              <a:rPr lang="en-US" sz="85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Memory:</a:t>
            </a:r>
            <a:pPr algn="l"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1MB Flash, 192+4KB SRAM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396835" y="9339620"/>
            <a:ext cx="6780014" cy="1701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300"/>
              </a:lnSpc>
              <a:buSzPct val="100000"/>
              <a:buChar char="•"/>
            </a:pPr>
            <a:r>
              <a:rPr lang="en-US" sz="85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Peripherals:</a:t>
            </a:r>
            <a:pPr algn="l"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Rich set of GPIOs, Timers, ADCs, etc.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396835" y="9549408"/>
            <a:ext cx="6780014" cy="1701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300"/>
              </a:lnSpc>
              <a:buSzPct val="100000"/>
              <a:buChar char="•"/>
            </a:pPr>
            <a:r>
              <a:rPr lang="en-US" sz="85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Role:</a:t>
            </a:r>
            <a:pPr algn="l"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Central processing unit for sensor data, algorithm execution, and traffic light control.</a:t>
            </a:r>
            <a:endParaRPr lang="en-US" sz="85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61171" y="1686520"/>
            <a:ext cx="6780014" cy="678001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461171" y="8594050"/>
            <a:ext cx="2285762" cy="2126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30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Ultrasonic Sensors (HCSR04)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7461171" y="8920043"/>
            <a:ext cx="6780014" cy="1701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300"/>
              </a:lnSpc>
              <a:buSzPct val="100000"/>
              <a:buChar char="•"/>
            </a:pPr>
            <a:r>
              <a:rPr lang="en-US" sz="85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Range:</a:t>
            </a:r>
            <a:pPr algn="l"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2cm to 400cm</a:t>
            </a:r>
            <a:endParaRPr lang="en-US" sz="850" dirty="0"/>
          </a:p>
        </p:txBody>
      </p:sp>
      <p:sp>
        <p:nvSpPr>
          <p:cNvPr id="14" name="Text 10"/>
          <p:cNvSpPr/>
          <p:nvPr/>
        </p:nvSpPr>
        <p:spPr>
          <a:xfrm>
            <a:off x="7461171" y="9129832"/>
            <a:ext cx="6780014" cy="1701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300"/>
              </a:lnSpc>
              <a:buSzPct val="100000"/>
              <a:buChar char="•"/>
            </a:pPr>
            <a:r>
              <a:rPr lang="en-US" sz="85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Accuracy:</a:t>
            </a:r>
            <a:pPr algn="l"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Up to 3mm</a:t>
            </a:r>
            <a:endParaRPr lang="en-US" sz="850" dirty="0"/>
          </a:p>
        </p:txBody>
      </p:sp>
      <p:sp>
        <p:nvSpPr>
          <p:cNvPr id="15" name="Text 11"/>
          <p:cNvSpPr/>
          <p:nvPr/>
        </p:nvSpPr>
        <p:spPr>
          <a:xfrm>
            <a:off x="7461171" y="9339620"/>
            <a:ext cx="6780014" cy="1701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300"/>
              </a:lnSpc>
              <a:buSzPct val="100000"/>
              <a:buChar char="•"/>
            </a:pPr>
            <a:r>
              <a:rPr lang="en-US" sz="85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Operation:</a:t>
            </a:r>
            <a:pPr algn="l"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Emits ultrasound, measures echo arrival time.</a:t>
            </a:r>
            <a:endParaRPr lang="en-US" sz="850" dirty="0"/>
          </a:p>
        </p:txBody>
      </p:sp>
      <p:sp>
        <p:nvSpPr>
          <p:cNvPr id="16" name="Text 12"/>
          <p:cNvSpPr/>
          <p:nvPr/>
        </p:nvSpPr>
        <p:spPr>
          <a:xfrm>
            <a:off x="7461171" y="9549408"/>
            <a:ext cx="6780014" cy="1701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300"/>
              </a:lnSpc>
              <a:buSzPct val="100000"/>
              <a:buChar char="•"/>
            </a:pPr>
            <a:r>
              <a:rPr lang="en-US" sz="85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Role:</a:t>
            </a:r>
            <a:pPr algn="l"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Non-contact detection of vehicle presence and approximate distance in each lane.</a:t>
            </a:r>
            <a:endParaRPr lang="en-US" sz="850" dirty="0"/>
          </a:p>
        </p:txBody>
      </p:sp>
      <p:sp>
        <p:nvSpPr>
          <p:cNvPr id="17" name="Text 13"/>
          <p:cNvSpPr/>
          <p:nvPr/>
        </p:nvSpPr>
        <p:spPr>
          <a:xfrm>
            <a:off x="7461171" y="9821585"/>
            <a:ext cx="6780014" cy="1701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85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Additional Components:</a:t>
            </a:r>
            <a:pPr algn="l"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Traffic Signal LEDs (Red, Yellow, Green), 5V/3.3V Power Regulation.</a:t>
            </a:r>
            <a:endParaRPr lang="en-US" sz="850" dirty="0"/>
          </a:p>
        </p:txBody>
      </p:sp>
      <p:sp>
        <p:nvSpPr>
          <p:cNvPr id="18" name="Text 14"/>
          <p:cNvSpPr/>
          <p:nvPr/>
        </p:nvSpPr>
        <p:spPr>
          <a:xfrm>
            <a:off x="7461171" y="10093762"/>
            <a:ext cx="6780014" cy="1701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85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Future Integration (Optional):</a:t>
            </a:r>
            <a:pPr algn="l"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TB6612FNG Motor Driver for more complex signaling or barrier control.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26229" y="546259"/>
            <a:ext cx="2577822" cy="3095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Software Development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2025134" y="1053941"/>
            <a:ext cx="10580013" cy="8543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6700"/>
              </a:lnSpc>
              <a:buNone/>
            </a:pPr>
            <a:r>
              <a:rPr lang="en-US" sz="53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Baremetal Efficiency &amp; Modularity</a:t>
            </a:r>
            <a:endParaRPr lang="en-US" sz="5350" dirty="0"/>
          </a:p>
        </p:txBody>
      </p:sp>
      <p:sp>
        <p:nvSpPr>
          <p:cNvPr id="4" name="Text 2"/>
          <p:cNvSpPr/>
          <p:nvPr/>
        </p:nvSpPr>
        <p:spPr>
          <a:xfrm>
            <a:off x="693420" y="2205514"/>
            <a:ext cx="13243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5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Our software is engineered for maximum efficiency and control, developed using baremetal C code for direct hardware interaction. This approach ensures minimal overhead and optimal performance, critical for real-time applications.</a:t>
            </a:r>
            <a:endParaRPr lang="en-US" sz="15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3420" y="3022759"/>
            <a:ext cx="495300" cy="4953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93420" y="3765709"/>
            <a:ext cx="2476619" cy="3095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Baremetal C Code</a:t>
            </a:r>
            <a:endParaRPr lang="en-US" sz="1950" dirty="0"/>
          </a:p>
        </p:txBody>
      </p:sp>
      <p:sp>
        <p:nvSpPr>
          <p:cNvPr id="7" name="Text 4"/>
          <p:cNvSpPr/>
          <p:nvPr/>
        </p:nvSpPr>
        <p:spPr>
          <a:xfrm>
            <a:off x="693420" y="4194096"/>
            <a:ext cx="6497955" cy="29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5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Direct register access for low-level control, eliminating OS overhead.</a:t>
            </a:r>
            <a:endParaRPr lang="en-US" sz="155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39025" y="3022759"/>
            <a:ext cx="495300" cy="4953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439025" y="3765709"/>
            <a:ext cx="2738557" cy="3095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Key Driver Development</a:t>
            </a:r>
            <a:endParaRPr lang="en-US" sz="1950" dirty="0"/>
          </a:p>
        </p:txBody>
      </p:sp>
      <p:sp>
        <p:nvSpPr>
          <p:cNvPr id="10" name="Text 6"/>
          <p:cNvSpPr/>
          <p:nvPr/>
        </p:nvSpPr>
        <p:spPr>
          <a:xfrm>
            <a:off x="7439025" y="4194096"/>
            <a:ext cx="6497955" cy="29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300"/>
              </a:lnSpc>
              <a:buSzPct val="100000"/>
              <a:buChar char="•"/>
            </a:pPr>
            <a:r>
              <a:rPr lang="en-US" sz="155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GPIO:</a:t>
            </a:r>
            <a:pPr algn="l" indent="0" marL="0">
              <a:lnSpc>
                <a:spcPts val="2300"/>
              </a:lnSpc>
              <a:buNone/>
            </a:pPr>
            <a:r>
              <a:rPr lang="en-US" sz="15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Configures pins for input (sensors) and output (LEDs).</a:t>
            </a:r>
            <a:endParaRPr lang="en-US" sz="1550" dirty="0"/>
          </a:p>
        </p:txBody>
      </p:sp>
      <p:sp>
        <p:nvSpPr>
          <p:cNvPr id="11" name="Text 7"/>
          <p:cNvSpPr/>
          <p:nvPr/>
        </p:nvSpPr>
        <p:spPr>
          <a:xfrm>
            <a:off x="7439025" y="4560570"/>
            <a:ext cx="649795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300"/>
              </a:lnSpc>
              <a:buSzPct val="100000"/>
              <a:buChar char="•"/>
            </a:pPr>
            <a:r>
              <a:rPr lang="en-US" sz="155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Timer (TIM2):</a:t>
            </a:r>
            <a:pPr algn="l" indent="0" marL="0">
              <a:lnSpc>
                <a:spcPts val="2300"/>
              </a:lnSpc>
              <a:buNone/>
            </a:pPr>
            <a:r>
              <a:rPr lang="en-US" sz="15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Provides precise delays and measures ultrasonic echo duration.</a:t>
            </a:r>
            <a:endParaRPr lang="en-US" sz="1550" dirty="0"/>
          </a:p>
        </p:txBody>
      </p:sp>
      <p:sp>
        <p:nvSpPr>
          <p:cNvPr id="12" name="Text 8"/>
          <p:cNvSpPr/>
          <p:nvPr/>
        </p:nvSpPr>
        <p:spPr>
          <a:xfrm>
            <a:off x="7439025" y="5224224"/>
            <a:ext cx="6497955" cy="29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300"/>
              </a:lnSpc>
              <a:buSzPct val="100000"/>
              <a:buChar char="•"/>
            </a:pPr>
            <a:r>
              <a:rPr lang="en-US" sz="155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Ultrasonic:</a:t>
            </a:r>
            <a:pPr algn="l" indent="0" marL="0">
              <a:lnSpc>
                <a:spcPts val="2300"/>
              </a:lnSpc>
              <a:buNone/>
            </a:pPr>
            <a:r>
              <a:rPr lang="en-US" sz="15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Handles trigger pulse generation and distance calculation.</a:t>
            </a:r>
            <a:endParaRPr lang="en-US" sz="1550" dirty="0"/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3420" y="5917644"/>
            <a:ext cx="495300" cy="4953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93420" y="6660594"/>
            <a:ext cx="3031808" cy="3095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Traffic Light State Machine</a:t>
            </a:r>
            <a:endParaRPr lang="en-US" sz="1950" dirty="0"/>
          </a:p>
        </p:txBody>
      </p:sp>
      <p:sp>
        <p:nvSpPr>
          <p:cNvPr id="15" name="Text 10"/>
          <p:cNvSpPr/>
          <p:nvPr/>
        </p:nvSpPr>
        <p:spPr>
          <a:xfrm>
            <a:off x="693420" y="7088981"/>
            <a:ext cx="649795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5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Manages the sequence and timing of traffic light changes based on the control algorithm.</a:t>
            </a:r>
            <a:endParaRPr lang="en-US" sz="155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39025" y="5917644"/>
            <a:ext cx="495300" cy="49530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7439025" y="6660594"/>
            <a:ext cx="2476619" cy="3095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Agile Lifecycle</a:t>
            </a:r>
            <a:endParaRPr lang="en-US" sz="1950" dirty="0"/>
          </a:p>
        </p:txBody>
      </p:sp>
      <p:sp>
        <p:nvSpPr>
          <p:cNvPr id="18" name="Text 12"/>
          <p:cNvSpPr/>
          <p:nvPr/>
        </p:nvSpPr>
        <p:spPr>
          <a:xfrm>
            <a:off x="7439025" y="7088981"/>
            <a:ext cx="649795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5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Iterative development for rapid prototyping, testing, and continuous improvement.</a:t>
            </a:r>
            <a:endParaRPr lang="en-US" sz="15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79200" y="587812"/>
            <a:ext cx="2672001" cy="3339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00"/>
              </a:lnSpc>
              <a:buNone/>
            </a:pPr>
            <a:r>
              <a:rPr lang="en-US" sz="210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Flow of Control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1379815" y="1135499"/>
            <a:ext cx="11870650" cy="9217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7250"/>
              </a:lnSpc>
              <a:buNone/>
            </a:pPr>
            <a:r>
              <a:rPr lang="en-US" sz="580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Real-time Decision Making Process</a:t>
            </a:r>
            <a:endParaRPr lang="en-US" sz="5800" dirty="0"/>
          </a:p>
        </p:txBody>
      </p:sp>
      <p:sp>
        <p:nvSpPr>
          <p:cNvPr id="4" name="Text 2"/>
          <p:cNvSpPr/>
          <p:nvPr/>
        </p:nvSpPr>
        <p:spPr>
          <a:xfrm>
            <a:off x="748070" y="2377916"/>
            <a:ext cx="13134261" cy="6410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6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system operates on a continuous feedback loop, adapting to traffic conditions in real-time. This sequential flow ensures dynamic and efficient traffic management.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748070" y="3259336"/>
            <a:ext cx="213717" cy="2671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650" dirty="0">
                <a:solidFill>
                  <a:srgbClr val="384653"/>
                </a:solidFill>
                <a:latin typeface="Host Grotesk Light" pitchFamily="34" charset="0"/>
                <a:ea typeface="Host Grotesk Light" pitchFamily="34" charset="-122"/>
                <a:cs typeface="Host Grotesk Light" pitchFamily="34" charset="-120"/>
              </a:rPr>
              <a:t>01</a:t>
            </a:r>
            <a:endParaRPr lang="en-US" sz="16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8070" y="3592116"/>
            <a:ext cx="4235529" cy="30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48070" y="3759875"/>
            <a:ext cx="3203377" cy="3339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1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Trigger Ultrasonic Sensors</a:t>
            </a:r>
            <a:endParaRPr lang="en-US" sz="2100" dirty="0"/>
          </a:p>
        </p:txBody>
      </p:sp>
      <p:sp>
        <p:nvSpPr>
          <p:cNvPr id="8" name="Text 5"/>
          <p:cNvSpPr/>
          <p:nvPr/>
        </p:nvSpPr>
        <p:spPr>
          <a:xfrm>
            <a:off x="748070" y="4222075"/>
            <a:ext cx="4235529" cy="6410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6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microcontroller initiates a trigger pulse from each sensor to emit ultrasound waves.</a:t>
            </a:r>
            <a:endParaRPr lang="en-US" sz="1650" dirty="0"/>
          </a:p>
        </p:txBody>
      </p:sp>
      <p:sp>
        <p:nvSpPr>
          <p:cNvPr id="9" name="Text 6"/>
          <p:cNvSpPr/>
          <p:nvPr/>
        </p:nvSpPr>
        <p:spPr>
          <a:xfrm>
            <a:off x="5197316" y="3259336"/>
            <a:ext cx="213717" cy="2671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650" dirty="0">
                <a:solidFill>
                  <a:srgbClr val="384653"/>
                </a:solidFill>
                <a:latin typeface="Host Grotesk Light" pitchFamily="34" charset="0"/>
                <a:ea typeface="Host Grotesk Light" pitchFamily="34" charset="-122"/>
                <a:cs typeface="Host Grotesk Light" pitchFamily="34" charset="-120"/>
              </a:rPr>
              <a:t>02</a:t>
            </a:r>
            <a:endParaRPr lang="en-US" sz="165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97316" y="3592116"/>
            <a:ext cx="4235648" cy="3048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197316" y="3759875"/>
            <a:ext cx="2672001" cy="3339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1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Measure Echo Pulse</a:t>
            </a:r>
            <a:endParaRPr lang="en-US" sz="2100" dirty="0"/>
          </a:p>
        </p:txBody>
      </p:sp>
      <p:sp>
        <p:nvSpPr>
          <p:cNvPr id="12" name="Text 8"/>
          <p:cNvSpPr/>
          <p:nvPr/>
        </p:nvSpPr>
        <p:spPr>
          <a:xfrm>
            <a:off x="5197316" y="4222075"/>
            <a:ext cx="4235648" cy="961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6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time taken for the ultrasound wave to return (echo) is precisely measured by the microcontroller's timer.</a:t>
            </a:r>
            <a:endParaRPr lang="en-US" sz="1650" dirty="0"/>
          </a:p>
        </p:txBody>
      </p:sp>
      <p:sp>
        <p:nvSpPr>
          <p:cNvPr id="13" name="Text 9"/>
          <p:cNvSpPr/>
          <p:nvPr/>
        </p:nvSpPr>
        <p:spPr>
          <a:xfrm>
            <a:off x="9646682" y="3259336"/>
            <a:ext cx="213717" cy="2671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650" dirty="0">
                <a:solidFill>
                  <a:srgbClr val="384653"/>
                </a:solidFill>
                <a:latin typeface="Host Grotesk Light" pitchFamily="34" charset="0"/>
                <a:ea typeface="Host Grotesk Light" pitchFamily="34" charset="-122"/>
                <a:cs typeface="Host Grotesk Light" pitchFamily="34" charset="-120"/>
              </a:rPr>
              <a:t>03</a:t>
            </a:r>
            <a:endParaRPr lang="en-US" sz="1650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46682" y="3592116"/>
            <a:ext cx="4235648" cy="3048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9646682" y="3759875"/>
            <a:ext cx="3728918" cy="3339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1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Calculate &amp; Compare Distance</a:t>
            </a:r>
            <a:endParaRPr lang="en-US" sz="2100" dirty="0"/>
          </a:p>
        </p:txBody>
      </p:sp>
      <p:sp>
        <p:nvSpPr>
          <p:cNvPr id="16" name="Text 11"/>
          <p:cNvSpPr/>
          <p:nvPr/>
        </p:nvSpPr>
        <p:spPr>
          <a:xfrm>
            <a:off x="9646682" y="4222075"/>
            <a:ext cx="4235648" cy="12820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6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echo duration is converted into distance. This distance is then compared against a predefined threshold to determine vehicle presence.</a:t>
            </a:r>
            <a:endParaRPr lang="en-US" sz="1650" dirty="0"/>
          </a:p>
        </p:txBody>
      </p:sp>
      <p:sp>
        <p:nvSpPr>
          <p:cNvPr id="17" name="Text 12"/>
          <p:cNvSpPr/>
          <p:nvPr/>
        </p:nvSpPr>
        <p:spPr>
          <a:xfrm>
            <a:off x="748070" y="5878116"/>
            <a:ext cx="213717" cy="2671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650" dirty="0">
                <a:solidFill>
                  <a:srgbClr val="384653"/>
                </a:solidFill>
                <a:latin typeface="Host Grotesk Light" pitchFamily="34" charset="0"/>
                <a:ea typeface="Host Grotesk Light" pitchFamily="34" charset="-122"/>
                <a:cs typeface="Host Grotesk Light" pitchFamily="34" charset="-120"/>
              </a:rPr>
              <a:t>04</a:t>
            </a:r>
            <a:endParaRPr lang="en-US" sz="1650" dirty="0"/>
          </a:p>
        </p:txBody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8070" y="6189345"/>
            <a:ext cx="6460212" cy="3048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748070" y="6378654"/>
            <a:ext cx="3289697" cy="3339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1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Assign Traffic Light Priority</a:t>
            </a:r>
            <a:endParaRPr lang="en-US" sz="2100" dirty="0"/>
          </a:p>
        </p:txBody>
      </p:sp>
      <p:sp>
        <p:nvSpPr>
          <p:cNvPr id="20" name="Text 14"/>
          <p:cNvSpPr/>
          <p:nvPr/>
        </p:nvSpPr>
        <p:spPr>
          <a:xfrm>
            <a:off x="748070" y="6840855"/>
            <a:ext cx="6460212" cy="6410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6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Based on vehicle detection across all lanes, the system's algorithm dynamically assigns priority to the busiest lane(s).</a:t>
            </a:r>
            <a:endParaRPr lang="en-US" sz="1650" dirty="0"/>
          </a:p>
        </p:txBody>
      </p:sp>
      <p:sp>
        <p:nvSpPr>
          <p:cNvPr id="21" name="Text 15"/>
          <p:cNvSpPr/>
          <p:nvPr/>
        </p:nvSpPr>
        <p:spPr>
          <a:xfrm>
            <a:off x="7421999" y="5878116"/>
            <a:ext cx="213717" cy="2671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650" dirty="0">
                <a:solidFill>
                  <a:srgbClr val="384653"/>
                </a:solidFill>
                <a:latin typeface="Host Grotesk Light" pitchFamily="34" charset="0"/>
                <a:ea typeface="Host Grotesk Light" pitchFamily="34" charset="-122"/>
                <a:cs typeface="Host Grotesk Light" pitchFamily="34" charset="-120"/>
              </a:rPr>
              <a:t>05</a:t>
            </a:r>
            <a:endParaRPr lang="en-US" sz="1650" dirty="0"/>
          </a:p>
        </p:txBody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21999" y="6189345"/>
            <a:ext cx="6460331" cy="3048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7421999" y="6378654"/>
            <a:ext cx="2672001" cy="3339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1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Update Light States</a:t>
            </a:r>
            <a:endParaRPr lang="en-US" sz="2100" dirty="0"/>
          </a:p>
        </p:txBody>
      </p:sp>
      <p:sp>
        <p:nvSpPr>
          <p:cNvPr id="24" name="Text 17"/>
          <p:cNvSpPr/>
          <p:nvPr/>
        </p:nvSpPr>
        <p:spPr>
          <a:xfrm>
            <a:off x="7421999" y="6840855"/>
            <a:ext cx="6460331" cy="6410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6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Traffic lights are updated according to the assigned priorities, optimizing flow and reducing wait times.</a:t>
            </a:r>
            <a:endParaRPr lang="en-US" sz="16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71116" y="547330"/>
            <a:ext cx="2488168" cy="3109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Code Logic Summary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3005137" y="1057275"/>
            <a:ext cx="8620006" cy="8584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6750"/>
              </a:lnSpc>
              <a:buNone/>
            </a:pPr>
            <a:r>
              <a:rPr lang="en-US" sz="540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Algorithmic Core of STM32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696635" y="2413159"/>
            <a:ext cx="3011210" cy="3732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3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Initialization Sequence</a:t>
            </a:r>
            <a:endParaRPr lang="en-US" sz="2350" dirty="0"/>
          </a:p>
        </p:txBody>
      </p:sp>
      <p:sp>
        <p:nvSpPr>
          <p:cNvPr id="5" name="Text 3"/>
          <p:cNvSpPr/>
          <p:nvPr/>
        </p:nvSpPr>
        <p:spPr>
          <a:xfrm>
            <a:off x="696635" y="2985373"/>
            <a:ext cx="6375797" cy="5972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350"/>
              </a:lnSpc>
              <a:buSzPct val="100000"/>
              <a:buChar char="•"/>
            </a:pPr>
            <a:r>
              <a:rPr lang="en-US" sz="155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RCC Clock Enabled:</a:t>
            </a:r>
            <a:pPr algn="l" indent="0" marL="0">
              <a:lnSpc>
                <a:spcPts val="2350"/>
              </a:lnSpc>
              <a:buNone/>
            </a:pPr>
            <a:r>
              <a:rPr lang="en-US" sz="15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System clock configured for optimal performance.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696635" y="3652242"/>
            <a:ext cx="6375797" cy="5972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350"/>
              </a:lnSpc>
              <a:buSzPct val="100000"/>
              <a:buChar char="•"/>
            </a:pPr>
            <a:r>
              <a:rPr lang="en-US" sz="155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GPIOs &amp; TIM2 Configured:</a:t>
            </a:r>
            <a:pPr algn="l" indent="0" marL="0">
              <a:lnSpc>
                <a:spcPts val="2350"/>
              </a:lnSpc>
              <a:buNone/>
            </a:pPr>
            <a:r>
              <a:rPr lang="en-US" sz="15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All necessary pins and timer peripherals initialized.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696635" y="4319111"/>
            <a:ext cx="6375797" cy="5972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350"/>
              </a:lnSpc>
              <a:buSzPct val="100000"/>
              <a:buChar char="•"/>
            </a:pPr>
            <a:r>
              <a:rPr lang="en-US" sz="155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Default State:</a:t>
            </a:r>
            <a:pPr algn="l" indent="0" marL="0">
              <a:lnSpc>
                <a:spcPts val="2350"/>
              </a:lnSpc>
              <a:buNone/>
            </a:pPr>
            <a:r>
              <a:rPr lang="en-US" sz="15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All traffic lights are initially set to red, ensuring a safe startup.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696635" y="5115282"/>
            <a:ext cx="4124325" cy="3732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3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Ultrasonic Measurement Logic</a:t>
            </a:r>
            <a:endParaRPr lang="en-US" sz="2350" dirty="0"/>
          </a:p>
        </p:txBody>
      </p:sp>
      <p:sp>
        <p:nvSpPr>
          <p:cNvPr id="9" name="Text 7"/>
          <p:cNvSpPr/>
          <p:nvPr/>
        </p:nvSpPr>
        <p:spPr>
          <a:xfrm>
            <a:off x="696635" y="5687497"/>
            <a:ext cx="6375797" cy="2986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350"/>
              </a:lnSpc>
              <a:buSzPct val="100000"/>
              <a:buChar char="•"/>
            </a:pPr>
            <a:r>
              <a:rPr lang="en-US" sz="155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Trigger Pulse:</a:t>
            </a:r>
            <a:pPr algn="l" indent="0" marL="0">
              <a:lnSpc>
                <a:spcPts val="2350"/>
              </a:lnSpc>
              <a:buNone/>
            </a:pPr>
            <a:r>
              <a:rPr lang="en-US" sz="15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A short pulse is sent to the sensor's trigger pin.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696635" y="6055757"/>
            <a:ext cx="6375797" cy="5972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350"/>
              </a:lnSpc>
              <a:buSzPct val="100000"/>
              <a:buChar char="•"/>
            </a:pPr>
            <a:r>
              <a:rPr lang="en-US" sz="155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Echo Duration:</a:t>
            </a:r>
            <a:pPr algn="l" indent="0" marL="0">
              <a:lnSpc>
                <a:spcPts val="2350"/>
              </a:lnSpc>
              <a:buNone/>
            </a:pPr>
            <a:r>
              <a:rPr lang="en-US" sz="15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The microcontroller listens for the echo pulse on the sensor's echo pin, measuring its duration using TIM2.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696635" y="6722626"/>
            <a:ext cx="6375797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350"/>
              </a:lnSpc>
              <a:buSzPct val="100000"/>
              <a:buChar char="•"/>
            </a:pPr>
            <a:r>
              <a:rPr lang="en-US" sz="155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Distance Calculation:</a:t>
            </a:r>
            <a:pPr algn="l" indent="0" marL="0">
              <a:lnSpc>
                <a:spcPts val="2350"/>
              </a:lnSpc>
              <a:buNone/>
            </a:pPr>
            <a:r>
              <a:rPr lang="en-US" sz="15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Distance is computed using the formula: </a:t>
            </a:r>
            <a:pPr algn="l" indent="0" marL="0">
              <a:lnSpc>
                <a:spcPts val="2350"/>
              </a:lnSpc>
              <a:buNone/>
            </a:pPr>
            <a:r>
              <a:rPr lang="en-US" sz="1550" dirty="0">
                <a:solidFill>
                  <a:srgbClr val="384653"/>
                </a:solidFill>
                <a:highlight>
                  <a:srgbClr val="EDECE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Distance = Pulse width / 58</a:t>
            </a:r>
            <a:pPr algn="l" indent="0" marL="0">
              <a:lnSpc>
                <a:spcPts val="2350"/>
              </a:lnSpc>
              <a:buNone/>
            </a:pPr>
            <a:r>
              <a:rPr lang="en-US" sz="15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(for cm).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7565588" y="2413159"/>
            <a:ext cx="3356015" cy="3732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3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Traffic Control Algorithm</a:t>
            </a:r>
            <a:endParaRPr lang="en-US" sz="2350" dirty="0"/>
          </a:p>
        </p:txBody>
      </p:sp>
      <p:sp>
        <p:nvSpPr>
          <p:cNvPr id="13" name="Text 11"/>
          <p:cNvSpPr/>
          <p:nvPr/>
        </p:nvSpPr>
        <p:spPr>
          <a:xfrm>
            <a:off x="7565588" y="2985373"/>
            <a:ext cx="6375797" cy="5972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350"/>
              </a:lnSpc>
              <a:buSzPct val="100000"/>
              <a:buChar char="•"/>
            </a:pPr>
            <a:r>
              <a:rPr lang="en-US" sz="155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Vehicle Detection:</a:t>
            </a:r>
            <a:pPr algn="l" indent="0" marL="0">
              <a:lnSpc>
                <a:spcPts val="2350"/>
              </a:lnSpc>
              <a:buNone/>
            </a:pPr>
            <a:r>
              <a:rPr lang="en-US" sz="15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If the calculated distance is less than a predefined threshold, vehicles are considered present in that lane.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7565588" y="3652242"/>
            <a:ext cx="6375797" cy="5972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350"/>
              </a:lnSpc>
              <a:buSzPct val="100000"/>
              <a:buChar char="•"/>
            </a:pPr>
            <a:r>
              <a:rPr lang="en-US" sz="155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Dynamic Priority:</a:t>
            </a:r>
            <a:pPr algn="l" indent="0" marL="0">
              <a:lnSpc>
                <a:spcPts val="2350"/>
              </a:lnSpc>
              <a:buNone/>
            </a:pPr>
            <a:r>
              <a:rPr lang="en-US" sz="15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Lanes with detected vehicles are given priority, overriding the default cyclic sequence.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7565588" y="4319111"/>
            <a:ext cx="6375797" cy="5972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350"/>
              </a:lnSpc>
              <a:buSzPct val="100000"/>
              <a:buChar char="•"/>
            </a:pPr>
            <a:r>
              <a:rPr lang="en-US" sz="155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Green Time Management:</a:t>
            </a:r>
            <a:pPr algn="l" indent="0" marL="0">
              <a:lnSpc>
                <a:spcPts val="2350"/>
              </a:lnSpc>
              <a:buNone/>
            </a:pPr>
            <a:r>
              <a:rPr lang="en-US" sz="15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A prioritized lane receives a maximum green time before transitioning to yellow and then red.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7565588" y="4985980"/>
            <a:ext cx="6375797" cy="8958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350"/>
              </a:lnSpc>
              <a:buSzPct val="100000"/>
              <a:buChar char="•"/>
            </a:pPr>
            <a:r>
              <a:rPr lang="en-US" sz="155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Next Lane Selection:</a:t>
            </a:r>
            <a:pPr algn="l" indent="0" marL="0">
              <a:lnSpc>
                <a:spcPts val="2350"/>
              </a:lnSpc>
              <a:buNone/>
            </a:pPr>
            <a:r>
              <a:rPr lang="en-US" sz="15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After a lane's cycle, the algorithm evaluates other lanes for priority or proceeds in a default order if no priority is needed.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7565588" y="6080760"/>
            <a:ext cx="3731538" cy="3732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3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Continuous Operation Loop</a:t>
            </a:r>
            <a:endParaRPr lang="en-US" sz="2350" dirty="0"/>
          </a:p>
        </p:txBody>
      </p:sp>
      <p:sp>
        <p:nvSpPr>
          <p:cNvPr id="18" name="Text 16"/>
          <p:cNvSpPr/>
          <p:nvPr/>
        </p:nvSpPr>
        <p:spPr>
          <a:xfrm>
            <a:off x="7565588" y="6652974"/>
            <a:ext cx="6375797" cy="2986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350"/>
              </a:lnSpc>
              <a:buSzPct val="100000"/>
              <a:buChar char="•"/>
            </a:pPr>
            <a:r>
              <a:rPr lang="en-US" sz="15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Sensors continuously update distance measurements.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7565588" y="7021235"/>
            <a:ext cx="6375797" cy="5972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350"/>
              </a:lnSpc>
              <a:buSzPct val="100000"/>
              <a:buChar char="•"/>
            </a:pPr>
            <a:r>
              <a:rPr lang="en-US" sz="15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traffic control algorithm re-evaluates and updates the light cycle dynamically based on the latest data.</a:t>
            </a:r>
            <a:endParaRPr lang="en-US" sz="15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15489" y="555903"/>
            <a:ext cx="2999303" cy="3158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450"/>
              </a:lnSpc>
              <a:buNone/>
            </a:pPr>
            <a:r>
              <a:rPr lang="en-US" sz="19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Prototype Implementation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2818209" y="1073944"/>
            <a:ext cx="8993862" cy="8718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6850"/>
              </a:lnSpc>
              <a:buNone/>
            </a:pPr>
            <a:r>
              <a:rPr lang="en-US" sz="54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Bringing the Concept to Life</a:t>
            </a:r>
            <a:endParaRPr lang="en-US" sz="5450" dirty="0"/>
          </a:p>
        </p:txBody>
      </p:sp>
      <p:sp>
        <p:nvSpPr>
          <p:cNvPr id="4" name="Text 2"/>
          <p:cNvSpPr/>
          <p:nvPr/>
        </p:nvSpPr>
        <p:spPr>
          <a:xfrm>
            <a:off x="707588" y="2249091"/>
            <a:ext cx="13215223" cy="606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5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Our functional prototype demonstrates the viability and effectiveness of the Smart Traffic Management System. This hands-on implementation phase allowed us to rigorously test and validate our design.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707588" y="3083004"/>
            <a:ext cx="13215223" cy="4593669"/>
          </a:xfrm>
          <a:prstGeom prst="roundRect">
            <a:avLst>
              <a:gd name="adj" fmla="val 1849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15208" y="3090624"/>
            <a:ext cx="13199983" cy="864156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917377" y="3219450"/>
            <a:ext cx="6191845" cy="3032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55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Physical Layout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7521178" y="3219450"/>
            <a:ext cx="6191845" cy="606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5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Breadboard connections facilitating easy assembly and modification.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715208" y="3954780"/>
            <a:ext cx="13199983" cy="864156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917377" y="4083606"/>
            <a:ext cx="6191845" cy="3032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55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Microcontroller Integration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7521178" y="4083606"/>
            <a:ext cx="6191845" cy="606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5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STM32F405RGT6 seamlessly connected to all sensors and output LEDs.</a:t>
            </a:r>
            <a:endParaRPr lang="en-US" sz="1550" dirty="0"/>
          </a:p>
        </p:txBody>
      </p:sp>
      <p:sp>
        <p:nvSpPr>
          <p:cNvPr id="12" name="Shape 10"/>
          <p:cNvSpPr/>
          <p:nvPr/>
        </p:nvSpPr>
        <p:spPr>
          <a:xfrm>
            <a:off x="715208" y="4818936"/>
            <a:ext cx="13199983" cy="864156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917377" y="4947761"/>
            <a:ext cx="6191845" cy="3032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55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Sensor Configuration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7521178" y="4947761"/>
            <a:ext cx="6191845" cy="606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5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Four ultrasonic sensors strategically positioned to simulate traffic lanes.</a:t>
            </a:r>
            <a:endParaRPr lang="en-US" sz="1550" dirty="0"/>
          </a:p>
        </p:txBody>
      </p:sp>
      <p:sp>
        <p:nvSpPr>
          <p:cNvPr id="15" name="Shape 13"/>
          <p:cNvSpPr/>
          <p:nvPr/>
        </p:nvSpPr>
        <p:spPr>
          <a:xfrm>
            <a:off x="715208" y="5683091"/>
            <a:ext cx="13199983" cy="560903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917377" y="5811917"/>
            <a:ext cx="6191845" cy="3032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55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Traffic Signal Representation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7521178" y="5811917"/>
            <a:ext cx="6191845" cy="3032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5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LEDs clearly represent red, yellow, and green traffic lights.</a:t>
            </a:r>
            <a:endParaRPr lang="en-US" sz="1550" dirty="0"/>
          </a:p>
        </p:txBody>
      </p:sp>
      <p:sp>
        <p:nvSpPr>
          <p:cNvPr id="18" name="Shape 16"/>
          <p:cNvSpPr/>
          <p:nvPr/>
        </p:nvSpPr>
        <p:spPr>
          <a:xfrm>
            <a:off x="715208" y="6243995"/>
            <a:ext cx="13199983" cy="560903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917377" y="6372820"/>
            <a:ext cx="6191845" cy="3032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55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Power Supply</a:t>
            </a:r>
            <a:endParaRPr lang="en-US" sz="1550" dirty="0"/>
          </a:p>
        </p:txBody>
      </p:sp>
      <p:sp>
        <p:nvSpPr>
          <p:cNvPr id="20" name="Text 18"/>
          <p:cNvSpPr/>
          <p:nvPr/>
        </p:nvSpPr>
        <p:spPr>
          <a:xfrm>
            <a:off x="7521178" y="6372820"/>
            <a:ext cx="6191845" cy="3032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5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Reliable power provided via USB or a regulated external source.</a:t>
            </a:r>
            <a:endParaRPr lang="en-US" sz="1550" dirty="0"/>
          </a:p>
        </p:txBody>
      </p:sp>
      <p:sp>
        <p:nvSpPr>
          <p:cNvPr id="21" name="Shape 19"/>
          <p:cNvSpPr/>
          <p:nvPr/>
        </p:nvSpPr>
        <p:spPr>
          <a:xfrm>
            <a:off x="715208" y="6804898"/>
            <a:ext cx="13199983" cy="864156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917377" y="6933724"/>
            <a:ext cx="6191845" cy="3032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55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Testing Environment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7521178" y="6933724"/>
            <a:ext cx="6191845" cy="606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5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Real-time testing conducted using toy vehicles to simulate varying traffic conditions and observe dynamic responses.</a:t>
            </a:r>
            <a:endParaRPr lang="en-US" sz="15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335435" y="431244"/>
            <a:ext cx="1959412" cy="2449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50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Code Implementation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548640" y="832842"/>
            <a:ext cx="5408176" cy="6759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300"/>
              </a:lnSpc>
              <a:buNone/>
            </a:pPr>
            <a:r>
              <a:rPr lang="en-US" sz="4250" dirty="0">
                <a:solidFill>
                  <a:srgbClr val="95CCDA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Core Logic</a:t>
            </a:r>
            <a:pPr algn="l" indent="0" marL="0">
              <a:lnSpc>
                <a:spcPts val="5300"/>
              </a:lnSpc>
              <a:buNone/>
            </a:pPr>
            <a:r>
              <a:rPr lang="en-US" sz="42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 Snippets</a:t>
            </a:r>
            <a:endParaRPr lang="en-US" sz="4250" dirty="0"/>
          </a:p>
        </p:txBody>
      </p:sp>
      <p:sp>
        <p:nvSpPr>
          <p:cNvPr id="4" name="Text 2"/>
          <p:cNvSpPr/>
          <p:nvPr/>
        </p:nvSpPr>
        <p:spPr>
          <a:xfrm>
            <a:off x="548640" y="1900476"/>
            <a:ext cx="1959412" cy="2449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50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GPIO &amp; TIM2 Setup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321719"/>
            <a:ext cx="6575346" cy="2351365"/>
          </a:xfrm>
          <a:prstGeom prst="roundRect">
            <a:avLst>
              <a:gd name="adj" fmla="val 2800"/>
            </a:avLst>
          </a:prstGeom>
          <a:solidFill>
            <a:srgbClr val="EDECE8"/>
          </a:solidFill>
          <a:ln/>
        </p:spPr>
      </p:sp>
      <p:sp>
        <p:nvSpPr>
          <p:cNvPr id="6" name="Shape 4"/>
          <p:cNvSpPr/>
          <p:nvPr/>
        </p:nvSpPr>
        <p:spPr>
          <a:xfrm>
            <a:off x="540901" y="2321719"/>
            <a:ext cx="6590824" cy="2351365"/>
          </a:xfrm>
          <a:prstGeom prst="roundRect">
            <a:avLst>
              <a:gd name="adj" fmla="val 1000"/>
            </a:avLst>
          </a:prstGeom>
          <a:solidFill>
            <a:srgbClr val="EDECE8"/>
          </a:solidFill>
          <a:ln/>
        </p:spPr>
      </p:sp>
      <p:sp>
        <p:nvSpPr>
          <p:cNvPr id="7" name="Text 5"/>
          <p:cNvSpPr/>
          <p:nvPr/>
        </p:nvSpPr>
        <p:spPr>
          <a:xfrm>
            <a:off x="697587" y="2439233"/>
            <a:ext cx="6277451" cy="2116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200" dirty="0">
                <a:solidFill>
                  <a:srgbClr val="384653"/>
                </a:solidFill>
                <a:highlight>
                  <a:srgbClr val="EDECE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// GPIO for HC-SR04 Trigger &amp; EchoHAL_GPIO_Init(...);// TIM2 for microsecond delaysTIM_HandleTypeDef htim2;htim2.Instance = TIM2;HAL_TIM_Base_Init(&amp;htim2);HAL_TIM_Base_Start(&amp;htim2);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514034" y="1900476"/>
            <a:ext cx="2164318" cy="2449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50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Ultrasonic Measurement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514034" y="2321719"/>
            <a:ext cx="6575346" cy="3762256"/>
          </a:xfrm>
          <a:prstGeom prst="roundRect">
            <a:avLst>
              <a:gd name="adj" fmla="val 1750"/>
            </a:avLst>
          </a:prstGeom>
          <a:solidFill>
            <a:srgbClr val="EDECE8"/>
          </a:solidFill>
          <a:ln/>
        </p:spPr>
      </p:sp>
      <p:sp>
        <p:nvSpPr>
          <p:cNvPr id="10" name="Shape 8"/>
          <p:cNvSpPr/>
          <p:nvPr/>
        </p:nvSpPr>
        <p:spPr>
          <a:xfrm>
            <a:off x="7506295" y="2321719"/>
            <a:ext cx="6590824" cy="3762256"/>
          </a:xfrm>
          <a:prstGeom prst="roundRect">
            <a:avLst>
              <a:gd name="adj" fmla="val 625"/>
            </a:avLst>
          </a:prstGeom>
          <a:solidFill>
            <a:srgbClr val="EDECE8"/>
          </a:solidFill>
          <a:ln/>
        </p:spPr>
      </p:sp>
      <p:sp>
        <p:nvSpPr>
          <p:cNvPr id="11" name="Text 9"/>
          <p:cNvSpPr/>
          <p:nvPr/>
        </p:nvSpPr>
        <p:spPr>
          <a:xfrm>
            <a:off x="7662982" y="2439233"/>
            <a:ext cx="6277451" cy="35272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200" dirty="0">
                <a:solidFill>
                  <a:srgbClr val="384653"/>
                </a:solidFill>
                <a:highlight>
                  <a:srgbClr val="EDECE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float getDistance_cm() {    // Trigger pulse    HAL_GPIO_WritePin(TRIG_GPIO_Port, TRIG_Pin, GPIO_PIN_SET);    delay_us(10);    HAL_GPIO_WritePin(TRIG_GPIO_Port, TRIG_Pin, GPIO_PIN_RESET);    // Measure echo pulse duration    while(HAL_GPIO_ReadPin(ECHO_GPIO_Port, ECHO_Pin) == GPIO_PIN_RESET);    uint32_t start_time = __HAL_TIM_GET_COUNTER(&amp;htim2);    while(HAL_GPIO_ReadPin(ECHO_GPIO_Port, ECHO_Pin) == GPIO_PIN_SET);    uint32_t end_time = __HAL_TIM_GET_COUNTER(&amp;htim2);    return (end_time - start_time) * 0.034 / 2; // Speed of sound in cm/µs}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83669" y="6671667"/>
            <a:ext cx="1959412" cy="2449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50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Traffic Cycle Logic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83669" y="7151608"/>
            <a:ext cx="13298091" cy="4702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2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system prioritizes traffic flow based on real-time vehicle detection. When a vehicle is detected, the corresponding lane's green light duration is extended. In the absence of traffic, a default cycle maintains flow, preventing unnecessary delays.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6436638"/>
            <a:ext cx="22860" cy="1361599"/>
          </a:xfrm>
          <a:prstGeom prst="rect">
            <a:avLst/>
          </a:prstGeom>
          <a:solidFill>
            <a:srgbClr val="95CCDA"/>
          </a:solidFill>
          <a:ln/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79200" y="747832"/>
            <a:ext cx="2672001" cy="3339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00"/>
              </a:lnSpc>
              <a:buNone/>
            </a:pPr>
            <a:r>
              <a:rPr lang="en-US" sz="210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Project Management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748070" y="1295519"/>
            <a:ext cx="9474279" cy="9217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250"/>
              </a:lnSpc>
              <a:buNone/>
            </a:pPr>
            <a:r>
              <a:rPr lang="en-US" sz="5800" dirty="0">
                <a:solidFill>
                  <a:srgbClr val="95CCDA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Agile</a:t>
            </a:r>
            <a:pPr algn="l" indent="0" marL="0">
              <a:lnSpc>
                <a:spcPts val="7250"/>
              </a:lnSpc>
              <a:buNone/>
            </a:pPr>
            <a:r>
              <a:rPr lang="en-US" sz="580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 Development Lifecycle</a:t>
            </a:r>
            <a:endParaRPr lang="en-US" sz="5800" dirty="0"/>
          </a:p>
        </p:txBody>
      </p:sp>
      <p:sp>
        <p:nvSpPr>
          <p:cNvPr id="4" name="Text 2"/>
          <p:cNvSpPr/>
          <p:nvPr/>
        </p:nvSpPr>
        <p:spPr>
          <a:xfrm>
            <a:off x="748070" y="2537936"/>
            <a:ext cx="213717" cy="2671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650" dirty="0">
                <a:solidFill>
                  <a:srgbClr val="384653"/>
                </a:solidFill>
                <a:latin typeface="Host Grotesk Light" pitchFamily="34" charset="0"/>
                <a:ea typeface="Host Grotesk Light" pitchFamily="34" charset="-122"/>
                <a:cs typeface="Host Grotesk Light" pitchFamily="34" charset="-120"/>
              </a:rPr>
              <a:t>01</a:t>
            </a:r>
            <a:endParaRPr lang="en-US" sz="16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8070" y="2870716"/>
            <a:ext cx="4235529" cy="30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48070" y="3038475"/>
            <a:ext cx="2835116" cy="3339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1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Requirement Gathering</a:t>
            </a:r>
            <a:endParaRPr lang="en-US" sz="2100" dirty="0"/>
          </a:p>
        </p:txBody>
      </p:sp>
      <p:sp>
        <p:nvSpPr>
          <p:cNvPr id="7" name="Text 4"/>
          <p:cNvSpPr/>
          <p:nvPr/>
        </p:nvSpPr>
        <p:spPr>
          <a:xfrm>
            <a:off x="748070" y="3500676"/>
            <a:ext cx="4235529" cy="961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6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Defined core functionalities: real-time detection, adaptive timing, and basic traffic states.</a:t>
            </a:r>
            <a:endParaRPr lang="en-US" sz="1650" dirty="0"/>
          </a:p>
        </p:txBody>
      </p:sp>
      <p:sp>
        <p:nvSpPr>
          <p:cNvPr id="8" name="Text 5"/>
          <p:cNvSpPr/>
          <p:nvPr/>
        </p:nvSpPr>
        <p:spPr>
          <a:xfrm>
            <a:off x="5197316" y="2537936"/>
            <a:ext cx="213717" cy="2671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650" dirty="0">
                <a:solidFill>
                  <a:srgbClr val="384653"/>
                </a:solidFill>
                <a:latin typeface="Host Grotesk Light" pitchFamily="34" charset="0"/>
                <a:ea typeface="Host Grotesk Light" pitchFamily="34" charset="-122"/>
                <a:cs typeface="Host Grotesk Light" pitchFamily="34" charset="-120"/>
              </a:rPr>
              <a:t>02</a:t>
            </a:r>
            <a:endParaRPr lang="en-US" sz="165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97316" y="2870716"/>
            <a:ext cx="4235648" cy="3048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197316" y="3038475"/>
            <a:ext cx="2672001" cy="3339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1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Sprint Planning</a:t>
            </a:r>
            <a:endParaRPr lang="en-US" sz="2100" dirty="0"/>
          </a:p>
        </p:txBody>
      </p:sp>
      <p:sp>
        <p:nvSpPr>
          <p:cNvPr id="11" name="Text 7"/>
          <p:cNvSpPr/>
          <p:nvPr/>
        </p:nvSpPr>
        <p:spPr>
          <a:xfrm>
            <a:off x="5197316" y="3500676"/>
            <a:ext cx="4235648" cy="961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6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Structured development into two-week sprints, focusing on hardware integration, sensor logic, and traffic control algorithms.</a:t>
            </a:r>
            <a:endParaRPr lang="en-US" sz="1650" dirty="0"/>
          </a:p>
        </p:txBody>
      </p:sp>
      <p:sp>
        <p:nvSpPr>
          <p:cNvPr id="12" name="Text 8"/>
          <p:cNvSpPr/>
          <p:nvPr/>
        </p:nvSpPr>
        <p:spPr>
          <a:xfrm>
            <a:off x="9646682" y="2537936"/>
            <a:ext cx="213717" cy="2671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650" dirty="0">
                <a:solidFill>
                  <a:srgbClr val="384653"/>
                </a:solidFill>
                <a:latin typeface="Host Grotesk Light" pitchFamily="34" charset="0"/>
                <a:ea typeface="Host Grotesk Light" pitchFamily="34" charset="-122"/>
                <a:cs typeface="Host Grotesk Light" pitchFamily="34" charset="-120"/>
              </a:rPr>
              <a:t>03</a:t>
            </a:r>
            <a:endParaRPr lang="en-US" sz="1650" dirty="0"/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46682" y="2870716"/>
            <a:ext cx="4235648" cy="3048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9646682" y="3038475"/>
            <a:ext cx="2928818" cy="3339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1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Incremental Prototyping</a:t>
            </a:r>
            <a:endParaRPr lang="en-US" sz="2100" dirty="0"/>
          </a:p>
        </p:txBody>
      </p:sp>
      <p:sp>
        <p:nvSpPr>
          <p:cNvPr id="15" name="Text 10"/>
          <p:cNvSpPr/>
          <p:nvPr/>
        </p:nvSpPr>
        <p:spPr>
          <a:xfrm>
            <a:off x="9646682" y="3500676"/>
            <a:ext cx="4235648" cy="961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6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Developed modular code for GPIO, timers, and sensor readings, integrating and testing in stages.</a:t>
            </a:r>
            <a:endParaRPr lang="en-US" sz="1650" dirty="0"/>
          </a:p>
        </p:txBody>
      </p:sp>
      <p:sp>
        <p:nvSpPr>
          <p:cNvPr id="16" name="Text 11"/>
          <p:cNvSpPr/>
          <p:nvPr/>
        </p:nvSpPr>
        <p:spPr>
          <a:xfrm>
            <a:off x="748070" y="4836200"/>
            <a:ext cx="213717" cy="2671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650" dirty="0">
                <a:solidFill>
                  <a:srgbClr val="384653"/>
                </a:solidFill>
                <a:latin typeface="Host Grotesk Light" pitchFamily="34" charset="0"/>
                <a:ea typeface="Host Grotesk Light" pitchFamily="34" charset="-122"/>
                <a:cs typeface="Host Grotesk Light" pitchFamily="34" charset="-120"/>
              </a:rPr>
              <a:t>04</a:t>
            </a:r>
            <a:endParaRPr lang="en-US" sz="1650" dirty="0"/>
          </a:p>
        </p:txBody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8070" y="5147667"/>
            <a:ext cx="6460212" cy="3048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748070" y="5336738"/>
            <a:ext cx="2672001" cy="3339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1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Testing &amp; Feedback</a:t>
            </a:r>
            <a:endParaRPr lang="en-US" sz="2100" dirty="0"/>
          </a:p>
        </p:txBody>
      </p:sp>
      <p:sp>
        <p:nvSpPr>
          <p:cNvPr id="19" name="Text 13"/>
          <p:cNvSpPr/>
          <p:nvPr/>
        </p:nvSpPr>
        <p:spPr>
          <a:xfrm>
            <a:off x="748070" y="5798939"/>
            <a:ext cx="6460212" cy="6410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6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Conducted bench testing and simulated traffic scenarios to refine sensor accuracy and timing logic.</a:t>
            </a:r>
            <a:endParaRPr lang="en-US" sz="1650" dirty="0"/>
          </a:p>
        </p:txBody>
      </p:sp>
      <p:sp>
        <p:nvSpPr>
          <p:cNvPr id="20" name="Text 14"/>
          <p:cNvSpPr/>
          <p:nvPr/>
        </p:nvSpPr>
        <p:spPr>
          <a:xfrm>
            <a:off x="7421999" y="4836200"/>
            <a:ext cx="213717" cy="2671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650" dirty="0">
                <a:solidFill>
                  <a:srgbClr val="384653"/>
                </a:solidFill>
                <a:latin typeface="Host Grotesk Light" pitchFamily="34" charset="0"/>
                <a:ea typeface="Host Grotesk Light" pitchFamily="34" charset="-122"/>
                <a:cs typeface="Host Grotesk Light" pitchFamily="34" charset="-120"/>
              </a:rPr>
              <a:t>05</a:t>
            </a:r>
            <a:endParaRPr lang="en-US" sz="1650" dirty="0"/>
          </a:p>
        </p:txBody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21999" y="5147667"/>
            <a:ext cx="6460331" cy="3048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7421999" y="5336738"/>
            <a:ext cx="2672001" cy="3339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1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Deployment</a:t>
            </a:r>
            <a:endParaRPr lang="en-US" sz="2100" dirty="0"/>
          </a:p>
        </p:txBody>
      </p:sp>
      <p:sp>
        <p:nvSpPr>
          <p:cNvPr id="23" name="Text 16"/>
          <p:cNvSpPr/>
          <p:nvPr/>
        </p:nvSpPr>
        <p:spPr>
          <a:xfrm>
            <a:off x="7421999" y="5798939"/>
            <a:ext cx="6460331" cy="6410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6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Finalized prototype for demonstration, showcasing adaptive behavior in varied traffic conditions.</a:t>
            </a:r>
            <a:endParaRPr lang="en-US" sz="1650" dirty="0"/>
          </a:p>
        </p:txBody>
      </p:sp>
      <p:sp>
        <p:nvSpPr>
          <p:cNvPr id="24" name="Text 17"/>
          <p:cNvSpPr/>
          <p:nvPr/>
        </p:nvSpPr>
        <p:spPr>
          <a:xfrm>
            <a:off x="748070" y="6840617"/>
            <a:ext cx="13134261" cy="6410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6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Our agile approach facilitated rapid iteration and allowed us to adapt to unforeseen technical challenges efficiently, leading to a robust and functional prototype.</a:t>
            </a:r>
            <a:endParaRPr lang="en-US" sz="16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78009" y="747236"/>
            <a:ext cx="2674382" cy="3342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00"/>
              </a:lnSpc>
              <a:buNone/>
            </a:pPr>
            <a:r>
              <a:rPr lang="en-US" sz="210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Prototype Evaluation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748784" y="1295281"/>
            <a:ext cx="9147810" cy="9227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250"/>
              </a:lnSpc>
              <a:buNone/>
            </a:pPr>
            <a:r>
              <a:rPr lang="en-US" sz="580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Key </a:t>
            </a:r>
            <a:pPr algn="l" indent="0" marL="0">
              <a:lnSpc>
                <a:spcPts val="7250"/>
              </a:lnSpc>
              <a:buNone/>
            </a:pPr>
            <a:r>
              <a:rPr lang="en-US" sz="5800" dirty="0">
                <a:solidFill>
                  <a:srgbClr val="95CCDA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Advantages</a:t>
            </a:r>
            <a:pPr algn="l" indent="0" marL="0">
              <a:lnSpc>
                <a:spcPts val="7250"/>
              </a:lnSpc>
              <a:buNone/>
            </a:pPr>
            <a:r>
              <a:rPr lang="en-US" sz="580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 &amp; Benefits</a:t>
            </a:r>
            <a:endParaRPr lang="en-US" sz="5800" dirty="0"/>
          </a:p>
        </p:txBody>
      </p:sp>
      <p:sp>
        <p:nvSpPr>
          <p:cNvPr id="4" name="Shape 2"/>
          <p:cNvSpPr/>
          <p:nvPr/>
        </p:nvSpPr>
        <p:spPr>
          <a:xfrm>
            <a:off x="748784" y="2859762"/>
            <a:ext cx="4235053" cy="2204323"/>
          </a:xfrm>
          <a:prstGeom prst="roundRect">
            <a:avLst>
              <a:gd name="adj" fmla="val 6637"/>
            </a:avLst>
          </a:prstGeom>
          <a:solidFill>
            <a:srgbClr val="FAF9F5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8784" y="2829282"/>
            <a:ext cx="4235053" cy="121920"/>
          </a:xfrm>
          <a:prstGeom prst="rect">
            <a:avLst/>
          </a:prstGeom>
        </p:spPr>
      </p:pic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5437" y="2538889"/>
            <a:ext cx="641747" cy="641747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2737961" y="2699266"/>
            <a:ext cx="256699" cy="3208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4"/>
          <p:cNvSpPr/>
          <p:nvPr/>
        </p:nvSpPr>
        <p:spPr>
          <a:xfrm>
            <a:off x="993100" y="3394591"/>
            <a:ext cx="2674382" cy="3342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1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Reduced Congestion</a:t>
            </a:r>
            <a:endParaRPr lang="en-US" sz="2100" dirty="0"/>
          </a:p>
        </p:txBody>
      </p:sp>
      <p:sp>
        <p:nvSpPr>
          <p:cNvPr id="9" name="Text 5"/>
          <p:cNvSpPr/>
          <p:nvPr/>
        </p:nvSpPr>
        <p:spPr>
          <a:xfrm>
            <a:off x="993100" y="3857149"/>
            <a:ext cx="3746421" cy="962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6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Dynamic adjustment of signal timings based on real-time traffic flow minimizes unnecessary waits.</a:t>
            </a:r>
            <a:endParaRPr lang="en-US" sz="1650" dirty="0"/>
          </a:p>
        </p:txBody>
      </p:sp>
      <p:sp>
        <p:nvSpPr>
          <p:cNvPr id="10" name="Shape 6"/>
          <p:cNvSpPr/>
          <p:nvPr/>
        </p:nvSpPr>
        <p:spPr>
          <a:xfrm>
            <a:off x="5197673" y="2859762"/>
            <a:ext cx="4235053" cy="2204323"/>
          </a:xfrm>
          <a:prstGeom prst="roundRect">
            <a:avLst>
              <a:gd name="adj" fmla="val 6637"/>
            </a:avLst>
          </a:prstGeom>
          <a:solidFill>
            <a:srgbClr val="FAF9F5"/>
          </a:solidFill>
          <a:ln/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97673" y="2829282"/>
            <a:ext cx="4235053" cy="121920"/>
          </a:xfrm>
          <a:prstGeom prst="rect">
            <a:avLst/>
          </a:prstGeom>
        </p:spPr>
      </p:pic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94327" y="2538889"/>
            <a:ext cx="641747" cy="641747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7186851" y="2699266"/>
            <a:ext cx="256699" cy="3208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2</a:t>
            </a:r>
            <a:endParaRPr lang="en-US" sz="2000" dirty="0"/>
          </a:p>
        </p:txBody>
      </p:sp>
      <p:sp>
        <p:nvSpPr>
          <p:cNvPr id="14" name="Text 8"/>
          <p:cNvSpPr/>
          <p:nvPr/>
        </p:nvSpPr>
        <p:spPr>
          <a:xfrm>
            <a:off x="5441990" y="3394591"/>
            <a:ext cx="2674382" cy="3342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1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Fuel &amp; Time Savings</a:t>
            </a:r>
            <a:endParaRPr lang="en-US" sz="2100" dirty="0"/>
          </a:p>
        </p:txBody>
      </p:sp>
      <p:sp>
        <p:nvSpPr>
          <p:cNvPr id="15" name="Text 9"/>
          <p:cNvSpPr/>
          <p:nvPr/>
        </p:nvSpPr>
        <p:spPr>
          <a:xfrm>
            <a:off x="5441990" y="3857149"/>
            <a:ext cx="3746421" cy="962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6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Optimized traffic flow leads to less idling, conserving fuel and reducing commute times for drivers.</a:t>
            </a:r>
            <a:endParaRPr lang="en-US" sz="1650" dirty="0"/>
          </a:p>
        </p:txBody>
      </p:sp>
      <p:sp>
        <p:nvSpPr>
          <p:cNvPr id="16" name="Shape 10"/>
          <p:cNvSpPr/>
          <p:nvPr/>
        </p:nvSpPr>
        <p:spPr>
          <a:xfrm>
            <a:off x="9646563" y="2859762"/>
            <a:ext cx="4235053" cy="2204323"/>
          </a:xfrm>
          <a:prstGeom prst="roundRect">
            <a:avLst>
              <a:gd name="adj" fmla="val 6637"/>
            </a:avLst>
          </a:prstGeom>
          <a:solidFill>
            <a:srgbClr val="FAF9F5"/>
          </a:solidFill>
          <a:ln/>
        </p:spPr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46563" y="2829282"/>
            <a:ext cx="4235053" cy="121920"/>
          </a:xfrm>
          <a:prstGeom prst="rect">
            <a:avLst/>
          </a:prstGeom>
        </p:spPr>
      </p:pic>
      <p:pic>
        <p:nvPicPr>
          <p:cNvPr id="1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443216" y="2538889"/>
            <a:ext cx="641747" cy="641747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11635740" y="2699266"/>
            <a:ext cx="256699" cy="3208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3</a:t>
            </a:r>
            <a:endParaRPr lang="en-US" sz="2000" dirty="0"/>
          </a:p>
        </p:txBody>
      </p:sp>
      <p:sp>
        <p:nvSpPr>
          <p:cNvPr id="20" name="Text 12"/>
          <p:cNvSpPr/>
          <p:nvPr/>
        </p:nvSpPr>
        <p:spPr>
          <a:xfrm>
            <a:off x="9890879" y="3394591"/>
            <a:ext cx="2674382" cy="3342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1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Pollution Control</a:t>
            </a:r>
            <a:endParaRPr lang="en-US" sz="2100" dirty="0"/>
          </a:p>
        </p:txBody>
      </p:sp>
      <p:sp>
        <p:nvSpPr>
          <p:cNvPr id="21" name="Text 13"/>
          <p:cNvSpPr/>
          <p:nvPr/>
        </p:nvSpPr>
        <p:spPr>
          <a:xfrm>
            <a:off x="9890879" y="3857149"/>
            <a:ext cx="3746421" cy="962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6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Less idling directly translates to lower vehicular emissions and improved urban air quality.</a:t>
            </a:r>
            <a:endParaRPr lang="en-US" sz="1650" dirty="0"/>
          </a:p>
        </p:txBody>
      </p:sp>
      <p:sp>
        <p:nvSpPr>
          <p:cNvPr id="22" name="Shape 14"/>
          <p:cNvSpPr/>
          <p:nvPr/>
        </p:nvSpPr>
        <p:spPr>
          <a:xfrm>
            <a:off x="748784" y="5598795"/>
            <a:ext cx="6459498" cy="1883450"/>
          </a:xfrm>
          <a:prstGeom prst="roundRect">
            <a:avLst>
              <a:gd name="adj" fmla="val 7768"/>
            </a:avLst>
          </a:prstGeom>
          <a:solidFill>
            <a:srgbClr val="FAF9F5"/>
          </a:solidFill>
          <a:ln/>
        </p:spPr>
      </p:sp>
      <p:pic>
        <p:nvPicPr>
          <p:cNvPr id="2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8784" y="5568315"/>
            <a:ext cx="6459498" cy="121920"/>
          </a:xfrm>
          <a:prstGeom prst="rect">
            <a:avLst/>
          </a:prstGeom>
        </p:spPr>
      </p:pic>
      <p:pic>
        <p:nvPicPr>
          <p:cNvPr id="24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657600" y="5277922"/>
            <a:ext cx="641747" cy="641747"/>
          </a:xfrm>
          <a:prstGeom prst="rect">
            <a:avLst/>
          </a:prstGeom>
        </p:spPr>
      </p:pic>
      <p:sp>
        <p:nvSpPr>
          <p:cNvPr id="25" name="Text 15"/>
          <p:cNvSpPr/>
          <p:nvPr/>
        </p:nvSpPr>
        <p:spPr>
          <a:xfrm>
            <a:off x="3850124" y="5438299"/>
            <a:ext cx="256699" cy="3208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4</a:t>
            </a:r>
            <a:endParaRPr lang="en-US" sz="2000" dirty="0"/>
          </a:p>
        </p:txBody>
      </p:sp>
      <p:sp>
        <p:nvSpPr>
          <p:cNvPr id="26" name="Text 16"/>
          <p:cNvSpPr/>
          <p:nvPr/>
        </p:nvSpPr>
        <p:spPr>
          <a:xfrm>
            <a:off x="993100" y="6133624"/>
            <a:ext cx="3166705" cy="3342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1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Low-Cost Implementation</a:t>
            </a:r>
            <a:endParaRPr lang="en-US" sz="2100" dirty="0"/>
          </a:p>
        </p:txBody>
      </p:sp>
      <p:sp>
        <p:nvSpPr>
          <p:cNvPr id="27" name="Text 17"/>
          <p:cNvSpPr/>
          <p:nvPr/>
        </p:nvSpPr>
        <p:spPr>
          <a:xfrm>
            <a:off x="993100" y="6596182"/>
            <a:ext cx="5970865" cy="6417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6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Utilizes readily available and economical components like STM32 microcontrollers and ultrasonic sensors.</a:t>
            </a:r>
            <a:endParaRPr lang="en-US" sz="1650" dirty="0"/>
          </a:p>
        </p:txBody>
      </p:sp>
      <p:sp>
        <p:nvSpPr>
          <p:cNvPr id="28" name="Shape 18"/>
          <p:cNvSpPr/>
          <p:nvPr/>
        </p:nvSpPr>
        <p:spPr>
          <a:xfrm>
            <a:off x="7422118" y="5598795"/>
            <a:ext cx="6459498" cy="1883450"/>
          </a:xfrm>
          <a:prstGeom prst="roundRect">
            <a:avLst>
              <a:gd name="adj" fmla="val 7768"/>
            </a:avLst>
          </a:prstGeom>
          <a:solidFill>
            <a:srgbClr val="FAF9F5"/>
          </a:solidFill>
          <a:ln/>
        </p:spPr>
      </p:sp>
      <p:pic>
        <p:nvPicPr>
          <p:cNvPr id="29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422118" y="5568315"/>
            <a:ext cx="6459498" cy="121920"/>
          </a:xfrm>
          <a:prstGeom prst="rect">
            <a:avLst/>
          </a:prstGeom>
        </p:spPr>
      </p:pic>
      <p:pic>
        <p:nvPicPr>
          <p:cNvPr id="30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330934" y="5277922"/>
            <a:ext cx="641747" cy="641747"/>
          </a:xfrm>
          <a:prstGeom prst="rect">
            <a:avLst/>
          </a:prstGeom>
        </p:spPr>
      </p:pic>
      <p:sp>
        <p:nvSpPr>
          <p:cNvPr id="31" name="Text 19"/>
          <p:cNvSpPr/>
          <p:nvPr/>
        </p:nvSpPr>
        <p:spPr>
          <a:xfrm>
            <a:off x="10523458" y="5438299"/>
            <a:ext cx="256699" cy="3208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5</a:t>
            </a:r>
            <a:endParaRPr lang="en-US" sz="2000" dirty="0"/>
          </a:p>
        </p:txBody>
      </p:sp>
      <p:sp>
        <p:nvSpPr>
          <p:cNvPr id="32" name="Text 20"/>
          <p:cNvSpPr/>
          <p:nvPr/>
        </p:nvSpPr>
        <p:spPr>
          <a:xfrm>
            <a:off x="7666434" y="6133624"/>
            <a:ext cx="2674382" cy="3342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1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Scalable</a:t>
            </a:r>
            <a:endParaRPr lang="en-US" sz="2100" dirty="0"/>
          </a:p>
        </p:txBody>
      </p:sp>
      <p:sp>
        <p:nvSpPr>
          <p:cNvPr id="33" name="Text 21"/>
          <p:cNvSpPr/>
          <p:nvPr/>
        </p:nvSpPr>
        <p:spPr>
          <a:xfrm>
            <a:off x="7666434" y="6596182"/>
            <a:ext cx="5970865" cy="6417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6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modular design allows for integration into larger smart city infrastructure, potentially with AI/IoT capabilities.</a:t>
            </a:r>
            <a:endParaRPr lang="en-US" sz="16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37446" y="474107"/>
            <a:ext cx="2155388" cy="2693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6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Prototype Evaluation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603409" y="915829"/>
            <a:ext cx="6701552" cy="7436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850"/>
              </a:lnSpc>
              <a:buNone/>
            </a:pPr>
            <a:r>
              <a:rPr lang="en-US" sz="46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Challenges &amp; </a:t>
            </a:r>
            <a:pPr algn="l" indent="0" marL="0">
              <a:lnSpc>
                <a:spcPts val="5850"/>
              </a:lnSpc>
              <a:buNone/>
            </a:pPr>
            <a:r>
              <a:rPr lang="en-US" sz="4650" dirty="0">
                <a:solidFill>
                  <a:srgbClr val="95CCDA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Limitations</a:t>
            </a:r>
            <a:endParaRPr lang="en-US" sz="46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409" y="2112050"/>
            <a:ext cx="6501527" cy="650152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533084" y="2073235"/>
            <a:ext cx="6501527" cy="517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000"/>
              </a:lnSpc>
              <a:buSzPct val="100000"/>
              <a:buChar char="•"/>
            </a:pPr>
            <a:r>
              <a:rPr lang="en-US" sz="13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Sensor accuracy can be </a:t>
            </a:r>
            <a:pPr algn="l" indent="0" marL="0">
              <a:lnSpc>
                <a:spcPts val="2000"/>
              </a:lnSpc>
              <a:buNone/>
            </a:pPr>
            <a:r>
              <a:rPr lang="en-US" sz="135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affected by adverse weather</a:t>
            </a:r>
            <a:pPr algn="l"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conditions such as heavy rain or dense fog, leading to inconsistent readings.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7533084" y="2650688"/>
            <a:ext cx="6501527" cy="517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000"/>
              </a:lnSpc>
              <a:buSzPct val="100000"/>
              <a:buChar char="•"/>
            </a:pPr>
            <a:r>
              <a:rPr lang="en-US" sz="13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HC-SR04 ultrasonic sensor has a </a:t>
            </a:r>
            <a:pPr algn="l" indent="0" marL="0">
              <a:lnSpc>
                <a:spcPts val="2000"/>
              </a:lnSpc>
              <a:buNone/>
            </a:pPr>
            <a:r>
              <a:rPr lang="en-US" sz="135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limited effective detection range</a:t>
            </a:r>
            <a:pPr algn="l"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of approximately 400 cm, restricting its application in wide intersections.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7533084" y="3228142"/>
            <a:ext cx="6501527" cy="517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000"/>
              </a:lnSpc>
              <a:buSzPct val="100000"/>
              <a:buChar char="•"/>
            </a:pPr>
            <a:r>
              <a:rPr lang="en-US" sz="13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Scaling the system to manage traffic in large, complex urban environments would necessitate a robust </a:t>
            </a:r>
            <a:pPr algn="l" indent="0" marL="0">
              <a:lnSpc>
                <a:spcPts val="2000"/>
              </a:lnSpc>
              <a:buNone/>
            </a:pPr>
            <a:r>
              <a:rPr lang="en-US" sz="135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IoT backbone</a:t>
            </a:r>
            <a:pPr algn="l"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for centralized data processing and control.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7533084" y="3805595"/>
            <a:ext cx="6501527" cy="517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000"/>
              </a:lnSpc>
              <a:buSzPct val="100000"/>
              <a:buChar char="•"/>
            </a:pPr>
            <a:r>
              <a:rPr lang="en-US" sz="13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current prototype </a:t>
            </a:r>
            <a:pPr algn="l" indent="0" marL="0">
              <a:lnSpc>
                <a:spcPts val="2000"/>
              </a:lnSpc>
              <a:buNone/>
            </a:pPr>
            <a:r>
              <a:rPr lang="en-US" sz="135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requires continuous power</a:t>
            </a:r>
            <a:pPr algn="l"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and would need backup power solutions (e.g., UPS) to maintain operation during electrical blackouts.</a:t>
            </a:r>
            <a:endParaRPr lang="en-US" sz="13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344245" y="452438"/>
            <a:ext cx="1941909" cy="242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50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Future Outlook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543639" y="850344"/>
            <a:ext cx="5359718" cy="6699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250"/>
              </a:lnSpc>
              <a:buNone/>
            </a:pPr>
            <a:r>
              <a:rPr lang="en-US" sz="420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Beyond the </a:t>
            </a:r>
            <a:pPr algn="l" indent="0" marL="0">
              <a:lnSpc>
                <a:spcPts val="5250"/>
              </a:lnSpc>
              <a:buNone/>
            </a:pPr>
            <a:r>
              <a:rPr lang="en-US" sz="4200" dirty="0">
                <a:solidFill>
                  <a:srgbClr val="95CCDA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Prototype</a:t>
            </a:r>
            <a:endParaRPr lang="en-US" sz="4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3639" y="1753314"/>
            <a:ext cx="4384834" cy="270998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3639" y="4618553"/>
            <a:ext cx="1941909" cy="242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5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IoT Cloud Integration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543639" y="4954310"/>
            <a:ext cx="4384834" cy="4660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Connecting units to cloud platforms for centralized data analytics, remote monitoring, and firmware updates.</a:t>
            </a:r>
            <a:endParaRPr lang="en-US" sz="12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2664" y="1753314"/>
            <a:ext cx="4384953" cy="2710101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122664" y="4618673"/>
            <a:ext cx="1941909" cy="242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5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AI-Based Prediction</a:t>
            </a:r>
            <a:endParaRPr lang="en-US" sz="1500" dirty="0"/>
          </a:p>
        </p:txBody>
      </p:sp>
      <p:sp>
        <p:nvSpPr>
          <p:cNvPr id="9" name="Text 5"/>
          <p:cNvSpPr/>
          <p:nvPr/>
        </p:nvSpPr>
        <p:spPr>
          <a:xfrm>
            <a:off x="5122664" y="4954429"/>
            <a:ext cx="4384953" cy="4660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Implementing machine learning algorithms to predict traffic density based on historical data and real-time inputs.</a:t>
            </a:r>
            <a:endParaRPr lang="en-US" sz="12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01808" y="1753314"/>
            <a:ext cx="4384834" cy="2709982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9701808" y="4618553"/>
            <a:ext cx="1941909" cy="242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5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Solar Power</a:t>
            </a:r>
            <a:endParaRPr lang="en-US" sz="1500" dirty="0"/>
          </a:p>
        </p:txBody>
      </p:sp>
      <p:sp>
        <p:nvSpPr>
          <p:cNvPr id="12" name="Text 7"/>
          <p:cNvSpPr/>
          <p:nvPr/>
        </p:nvSpPr>
        <p:spPr>
          <a:xfrm>
            <a:off x="9701808" y="4954310"/>
            <a:ext cx="4384834" cy="4660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Integrating solar panels and battery storage to create self-sufficient, environmentally friendly traffic units.</a:t>
            </a:r>
            <a:endParaRPr lang="en-US" sz="1200" dirty="0"/>
          </a:p>
        </p:txBody>
      </p:sp>
      <p:sp>
        <p:nvSpPr>
          <p:cNvPr id="13" name="Shape 8"/>
          <p:cNvSpPr/>
          <p:nvPr/>
        </p:nvSpPr>
        <p:spPr>
          <a:xfrm>
            <a:off x="543639" y="5672757"/>
            <a:ext cx="13543121" cy="27027"/>
          </a:xfrm>
          <a:prstGeom prst="rect">
            <a:avLst/>
          </a:prstGeom>
          <a:solidFill>
            <a:srgbClr val="384653">
              <a:alpha val="50000"/>
            </a:srgbClr>
          </a:solidFill>
          <a:ln/>
        </p:spPr>
      </p:sp>
      <p:sp>
        <p:nvSpPr>
          <p:cNvPr id="14" name="Text 9"/>
          <p:cNvSpPr/>
          <p:nvPr/>
        </p:nvSpPr>
        <p:spPr>
          <a:xfrm>
            <a:off x="5878116" y="6107430"/>
            <a:ext cx="3107055" cy="3883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3050"/>
              </a:lnSpc>
              <a:buNone/>
            </a:pPr>
            <a:r>
              <a:rPr lang="en-US" sz="240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Conclusion</a:t>
            </a:r>
            <a:endParaRPr lang="en-US" sz="2400" dirty="0"/>
          </a:p>
        </p:txBody>
      </p:sp>
      <p:sp>
        <p:nvSpPr>
          <p:cNvPr id="15" name="Text 10"/>
          <p:cNvSpPr/>
          <p:nvPr/>
        </p:nvSpPr>
        <p:spPr>
          <a:xfrm>
            <a:off x="776645" y="6728817"/>
            <a:ext cx="13310116" cy="4660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STM32-based adaptive traffic control system offers a feasible, cost-effective, and efficient solution for modern urban traffic management, reducing congestion and human intervention. Further enhancements can leverage IoT and AI for even smarter cities.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543639" y="5874425"/>
            <a:ext cx="22860" cy="1495068"/>
          </a:xfrm>
          <a:prstGeom prst="rect">
            <a:avLst/>
          </a:prstGeom>
          <a:solidFill>
            <a:srgbClr val="95CCDA"/>
          </a:solidFill>
          <a:ln/>
        </p:spPr>
      </p:sp>
      <p:sp>
        <p:nvSpPr>
          <p:cNvPr id="17" name="Text 12"/>
          <p:cNvSpPr/>
          <p:nvPr/>
        </p:nvSpPr>
        <p:spPr>
          <a:xfrm>
            <a:off x="543639" y="7544157"/>
            <a:ext cx="13543121" cy="2330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References:</a:t>
            </a:r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IEEE Xplore: Smart Traffic Systems (2023) | MDPI Sensors: Adaptive Signal Control (2024) | Springer: AI in Transportation (2022) | STM32F405RGT6 &amp; HCSR04 Datasheets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2025-08-26T05:30:50Z</dcterms:created>
  <dcterms:modified xsi:type="dcterms:W3CDTF">2025-08-26T05:30:50Z</dcterms:modified>
</cp:coreProperties>
</file>