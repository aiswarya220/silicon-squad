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5" r:id="rId11"/>
  </p:sldIdLst>
  <p:sldSz cx="14630400" cy="8229600"/>
  <p:notesSz cx="8229600" cy="14630400"/>
  <p:embeddedFontLst>
    <p:embeddedFont>
      <p:font typeface="Raleway" pitchFamily="2" charset="0"/>
      <p:regular r:id="rId13"/>
    </p:embeddedFont>
    <p:embeddedFont>
      <p:font typeface="Raleway Light" pitchFamily="2" charset="0"/>
      <p:regular r:id="rId14"/>
      <p:italic r:id="rId15"/>
    </p:embeddedFont>
    <p:embeddedFont>
      <p:font typeface="Roboto" panose="02000000000000000000" pitchFamily="2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17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72415"/>
            <a:ext cx="2286000" cy="502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Vehicle Health Monitoring System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STM32F405RGT6 embedded implementation for small electric vehicles, delivering comprehensive safety monitoring at 75% cost reduction compared to commercial solutions.</a:t>
            </a:r>
            <a:endParaRPr lang="en-US" sz="175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D9BF1A2-D82E-0C71-0C1B-3B3B18EE7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2398"/>
            <a:ext cx="5887522" cy="588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2517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Challenge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300645"/>
            <a:ext cx="3664744" cy="2765227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8224" y="2535079"/>
            <a:ext cx="319587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Extreme Operating Conditions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379827"/>
            <a:ext cx="319587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12-16 hour daily utilization, 8°C to 47°C temperature range, 650kg to 1000kg load variations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2300645"/>
            <a:ext cx="3664863" cy="2765227"/>
          </a:xfrm>
          <a:prstGeom prst="roundRect">
            <a:avLst>
              <a:gd name="adj" fmla="val 34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19782" y="2535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 Failure Modes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782" y="3025497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34% thermal incidents, 28% mechanical failures, 23% passenger safety events, 15% coolant system failures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292685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8224" y="55271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Cost Constraints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017538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Premium safety systems unaffordable for cost-sensitive operators serving urban transportation markets</a:t>
            </a:r>
            <a:endParaRPr lang="en-US" sz="175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80518A69-6EA8-8C33-2475-5198B799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72415"/>
            <a:ext cx="2286000" cy="5029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62514F-CC0A-BB04-6612-6F9E72726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4645" y="2535079"/>
            <a:ext cx="5915851" cy="41820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6280190" y="1110377"/>
            <a:ext cx="65911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Solution Architecture</a:t>
            </a:r>
            <a:endParaRPr lang="en-US" sz="44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2159318"/>
            <a:ext cx="566976" cy="56697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130653" y="2293977"/>
            <a:ext cx="29077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Thermal Management</a:t>
            </a:r>
            <a:endParaRPr lang="en-US" sz="2200" dirty="0"/>
          </a:p>
        </p:txBody>
      </p:sp>
      <p:sp>
        <p:nvSpPr>
          <p:cNvPr id="7" name="Text 2"/>
          <p:cNvSpPr/>
          <p:nvPr/>
        </p:nvSpPr>
        <p:spPr>
          <a:xfrm>
            <a:off x="7130653" y="2784396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DS18B20 sensors with ambient-compensated trip points. Adaptive protection prevents shutdowns while maintaining motor safety.</a:t>
            </a:r>
            <a:endParaRPr lang="en-US" sz="17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963829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130653" y="40984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Vibration Monitoring</a:t>
            </a:r>
            <a:endParaRPr lang="en-US" sz="2200" dirty="0"/>
          </a:p>
        </p:txBody>
      </p:sp>
      <p:sp>
        <p:nvSpPr>
          <p:cNvPr id="10" name="Text 4"/>
          <p:cNvSpPr/>
          <p:nvPr/>
        </p:nvSpPr>
        <p:spPr>
          <a:xfrm>
            <a:off x="7130653" y="4588907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MPU6050 frequency-domain analysis optimized for three-wheeler dynamics. Predicts failures 5-15 days in advance.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5768340"/>
            <a:ext cx="566976" cy="56697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130653" y="59030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Safety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7130653" y="6393418"/>
            <a:ext cx="670595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PIR sensors with dual-confirmation logic and thermal masking prevent passenger contact with moving parts.</a:t>
            </a:r>
            <a:endParaRPr lang="en-US" sz="175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E3F329C7-A4C2-F1B4-4822-58E394FEE3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272415"/>
            <a:ext cx="2286000" cy="502920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17CA5640-4D7C-303C-CA04-F4527DC2A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57" y="1802011"/>
            <a:ext cx="5912789" cy="424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50543" y="943927"/>
            <a:ext cx="5458420" cy="68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Performance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250543" y="2062758"/>
            <a:ext cx="2356604" cy="7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50"/>
              </a:lnSpc>
              <a:buNone/>
            </a:pPr>
            <a:r>
              <a:rPr lang="en-US" sz="5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98.7%</a:t>
            </a:r>
            <a:endParaRPr lang="en-US" sz="5650" dirty="0"/>
          </a:p>
        </p:txBody>
      </p:sp>
      <p:sp>
        <p:nvSpPr>
          <p:cNvPr id="5" name="Text 2"/>
          <p:cNvSpPr/>
          <p:nvPr/>
        </p:nvSpPr>
        <p:spPr>
          <a:xfrm>
            <a:off x="6250543" y="3055977"/>
            <a:ext cx="2356604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Uptime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250543" y="3528060"/>
            <a:ext cx="2356604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Exceptional reliability in harsh operating conditions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880038" y="2062758"/>
            <a:ext cx="2356604" cy="7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50"/>
              </a:lnSpc>
              <a:buNone/>
            </a:pPr>
            <a:r>
              <a:rPr lang="en-US" sz="5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67%</a:t>
            </a:r>
            <a:endParaRPr lang="en-US" sz="5650" dirty="0"/>
          </a:p>
        </p:txBody>
      </p:sp>
      <p:sp>
        <p:nvSpPr>
          <p:cNvPr id="8" name="Text 5"/>
          <p:cNvSpPr/>
          <p:nvPr/>
        </p:nvSpPr>
        <p:spPr>
          <a:xfrm>
            <a:off x="8880038" y="3055977"/>
            <a:ext cx="2356604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Thermal Failure Reduction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880038" y="3869174"/>
            <a:ext cx="2356604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Dramatic improvement in motor protection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1509534" y="2062758"/>
            <a:ext cx="2356723" cy="7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50"/>
              </a:lnSpc>
              <a:buNone/>
            </a:pPr>
            <a:r>
              <a:rPr lang="en-US" sz="5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5650" dirty="0"/>
          </a:p>
        </p:txBody>
      </p:sp>
      <p:sp>
        <p:nvSpPr>
          <p:cNvPr id="11" name="Text 8"/>
          <p:cNvSpPr/>
          <p:nvPr/>
        </p:nvSpPr>
        <p:spPr>
          <a:xfrm>
            <a:off x="11509534" y="3055977"/>
            <a:ext cx="2356723" cy="68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Safety Incident Elimination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1509534" y="3869174"/>
            <a:ext cx="2356723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prevention of human safety events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880038" y="5121712"/>
            <a:ext cx="2356604" cy="7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50"/>
              </a:lnSpc>
              <a:buNone/>
            </a:pPr>
            <a:r>
              <a:rPr lang="en-US" sz="5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5650" dirty="0"/>
          </a:p>
        </p:txBody>
      </p:sp>
      <p:sp>
        <p:nvSpPr>
          <p:cNvPr id="14" name="Text 11"/>
          <p:cNvSpPr/>
          <p:nvPr/>
        </p:nvSpPr>
        <p:spPr>
          <a:xfrm>
            <a:off x="8880038" y="6114931"/>
            <a:ext cx="2356604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Days to ROI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880038" y="6587014"/>
            <a:ext cx="2356604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Rapid payback period with sustained benefits</a:t>
            </a:r>
            <a:endParaRPr lang="en-US" sz="170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8CD9C1CB-3170-7D19-0FF6-98981EEE4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72415"/>
            <a:ext cx="2286000" cy="50292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D7380FE0-7144-2A06-02AA-E43E4CEAE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63" y="2519957"/>
            <a:ext cx="5095637" cy="3397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6134814" y="579596"/>
            <a:ext cx="6185416" cy="579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Advanced Sensor Integration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6134814" y="1436489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2"/>
          <p:cNvSpPr/>
          <p:nvPr/>
        </p:nvSpPr>
        <p:spPr>
          <a:xfrm>
            <a:off x="6134814" y="1728549"/>
            <a:ext cx="7847171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134814" y="1866900"/>
            <a:ext cx="2316123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Multi-Modal Sensing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134814" y="2267426"/>
            <a:ext cx="7847171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DS18B20 temperature, DHT11 environmental, MPU6050 vibration, PIR motion, and water leak sensors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134814" y="3184327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134814" y="3476387"/>
            <a:ext cx="7847171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134814" y="3614738"/>
            <a:ext cx="2323386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Processing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134814" y="4015264"/>
            <a:ext cx="7847171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STM32F405RGT6 Cortex-M4F with FreeRTOS task architecture ensuring deterministic response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134814" y="4635818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134814" y="4927878"/>
            <a:ext cx="7847171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134814" y="5066228"/>
            <a:ext cx="2316123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 Analysis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134814" y="5466755"/>
            <a:ext cx="7847171" cy="5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Frequency-domain vibration analysis, adaptive thermal protection, and dual-confirmation safety logic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134814" y="6383655"/>
            <a:ext cx="185261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134814" y="6675715"/>
            <a:ext cx="7847171" cy="2286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134814" y="6814066"/>
            <a:ext cx="2316123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Fail-Safe Control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134814" y="7214592"/>
            <a:ext cx="7847171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Relay-based actuator control with emergency shutdown and comprehensive alert systems</a:t>
            </a:r>
            <a:endParaRPr lang="en-US" sz="1450" dirty="0"/>
          </a:p>
        </p:txBody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F8F39351-ED6F-97B7-02AD-3D1254A9A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72415"/>
            <a:ext cx="2286000" cy="50292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9484BED-EE1F-5E90-1635-A6030BC11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109252"/>
            <a:ext cx="5771657" cy="358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793790" y="1085493"/>
            <a:ext cx="56913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 Machine Design</a:t>
            </a:r>
            <a:endParaRPr lang="en-US" sz="44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34433"/>
            <a:ext cx="1134070" cy="166985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154674" y="23612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 State</a:t>
            </a:r>
            <a:endParaRPr lang="en-US" sz="2200" dirty="0"/>
          </a:p>
        </p:txBody>
      </p:sp>
      <p:sp>
        <p:nvSpPr>
          <p:cNvPr id="7" name="Text 2"/>
          <p:cNvSpPr/>
          <p:nvPr/>
        </p:nvSpPr>
        <p:spPr>
          <a:xfrm>
            <a:off x="2154674" y="2851666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initialization with comprehensive self-diagnostics, sensor verification, and baseline calibration</a:t>
            </a:r>
            <a:endParaRPr lang="en-US" sz="17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804285"/>
            <a:ext cx="1134070" cy="166985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154674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WARNING State</a:t>
            </a:r>
            <a:endParaRPr lang="en-US" sz="2200" dirty="0"/>
          </a:p>
        </p:txBody>
      </p:sp>
      <p:sp>
        <p:nvSpPr>
          <p:cNvPr id="10" name="Text 4"/>
          <p:cNvSpPr/>
          <p:nvPr/>
        </p:nvSpPr>
        <p:spPr>
          <a:xfrm>
            <a:off x="2154674" y="4521517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Threshold exceeded with hysteresis protection, enhanced cooling activation, operator notification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474137"/>
            <a:ext cx="1134070" cy="166985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154674" y="5700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TRIP State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2154674" y="6191369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condition detected, fail-safe shutdown, emergency protocols activated</a:t>
            </a:r>
            <a:endParaRPr lang="en-US" sz="175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D2BCAFB8-DDB5-9EA1-7BB9-37E9D89721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272415"/>
            <a:ext cx="228600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0675581-3182-316F-44BB-C110CC087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263" y="0"/>
            <a:ext cx="11444287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7701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8221"/>
            <a:ext cx="74710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FreeRTOS Task Performance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870127"/>
            <a:ext cx="3481030" cy="283488"/>
          </a:xfrm>
          <a:prstGeom prst="roundRect">
            <a:avLst>
              <a:gd name="adj" fmla="val 3360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93790" y="3870127"/>
            <a:ext cx="1984177" cy="283488"/>
          </a:xfrm>
          <a:prstGeom prst="roundRect">
            <a:avLst>
              <a:gd name="adj" fmla="val 33606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444841" y="3870127"/>
            <a:ext cx="50756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436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LCD Task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492740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 management and user interface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35893" y="3870127"/>
            <a:ext cx="3510201" cy="283488"/>
          </a:xfrm>
          <a:prstGeom prst="roundRect">
            <a:avLst>
              <a:gd name="adj" fmla="val 3360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235893" y="3870127"/>
            <a:ext cx="1439108" cy="283488"/>
          </a:xfrm>
          <a:prstGeom prst="roundRect">
            <a:avLst>
              <a:gd name="adj" fmla="val 33606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916114" y="3870127"/>
            <a:ext cx="478393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235893" y="4436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 Temperature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235893" y="492740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Thermal monitoring and protection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9677995" y="3870127"/>
            <a:ext cx="3638550" cy="283488"/>
          </a:xfrm>
          <a:prstGeom prst="roundRect">
            <a:avLst>
              <a:gd name="adj" fmla="val 3360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677995" y="3870127"/>
            <a:ext cx="72747" cy="283488"/>
          </a:xfrm>
          <a:prstGeom prst="roundRect">
            <a:avLst>
              <a:gd name="adj" fmla="val 130958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486567" y="3870127"/>
            <a:ext cx="35004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2%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677995" y="4436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Overhead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677995" y="492740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 computational headroom available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793790" y="59083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resource allocation with CPU utilization below 15% under full operational load, ensuring deterministic real-time response.</a:t>
            </a:r>
            <a:endParaRPr lang="en-US" sz="1750" dirty="0"/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5C57D130-0CE4-4C20-505A-6356E63AD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72415"/>
            <a:ext cx="228600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8670" y="620911"/>
            <a:ext cx="7566660" cy="1408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Comprehensive Testing Results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88670" y="2592705"/>
            <a:ext cx="3168372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 Scenarios Validated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88670" y="3170039"/>
            <a:ext cx="3508415" cy="721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PIR human detection with dual-confirmation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88670" y="3969901"/>
            <a:ext cx="3508415" cy="721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MPU6050 accident detection thresholds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88670" y="4769763"/>
            <a:ext cx="3508415" cy="721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DHT11 temperature/humidity monitoring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88670" y="5569625"/>
            <a:ext cx="3508415" cy="721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DS18B20 engine overheat protection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88670" y="6369487"/>
            <a:ext cx="3508415" cy="721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Water level detection with noise filtering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88670" y="7169348"/>
            <a:ext cx="3508415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24-hour stress test validation</a:t>
            </a:r>
            <a:endParaRPr lang="en-US" sz="1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535" y="2620923"/>
            <a:ext cx="3508415" cy="17077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54535" y="4582120"/>
            <a:ext cx="3508415" cy="1442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test scenarios achieved PASS status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stable operation, accurate threshold detection, and robust noise immunity.</a:t>
            </a:r>
            <a:endParaRPr lang="en-US" sz="175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FF91C0BE-7E83-D6F3-C7FA-68EEBB304F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28600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3974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Vision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535341" y="2446377"/>
            <a:ext cx="30480" cy="3041809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760012" y="2686288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280190" y="244637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65260" y="248888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669411" y="2524244"/>
            <a:ext cx="32786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Short-term (6-12 months)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669411" y="3014663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GSM/4G connectivity, advanced algorithms, battery backup, enhanced interface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760012" y="443400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80190" y="419409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65260" y="423660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669411" y="42719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Long-term (1-3 years)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669411" y="4762381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integration, OEM partnerships, regulatory certification, fleet management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280190" y="574333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comprehensive vehicle health monitoring system establishes a solid foundation for widespread deployment across the small electric vehicle market, delivering exceptional safety and economic benefits.</a:t>
            </a:r>
            <a:endParaRPr lang="en-US" sz="1750" dirty="0"/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DD5B1F28-589F-2944-43A8-F74DDE407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72415"/>
            <a:ext cx="2286000" cy="5029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618797F-ABB1-5E95-BE3F-F905D55EB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4" y="2177773"/>
            <a:ext cx="5274151" cy="3955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467</Words>
  <Application>Microsoft Office PowerPoint</Application>
  <PresentationFormat>Custom</PresentationFormat>
  <Paragraphs>86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Raleway</vt:lpstr>
      <vt:lpstr>Arial</vt:lpstr>
      <vt:lpstr>Roboto</vt:lpstr>
      <vt:lpstr>Raleway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FIXED-TERM Kolisetty Jayanth (BGSW/PJ-ETA-P)</cp:lastModifiedBy>
  <cp:revision>2</cp:revision>
  <dcterms:created xsi:type="dcterms:W3CDTF">2025-10-09T11:05:28Z</dcterms:created>
  <dcterms:modified xsi:type="dcterms:W3CDTF">2025-10-09T11:15:45Z</dcterms:modified>
</cp:coreProperties>
</file>